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examples are analytical illustrations; they are not outcomes from the optical-map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examples are analytical illustrations; they are not outcomes from the optical-map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threshold 0.5, any q&lt;0.5 produces a negative decision. Constant q=prevalence minimizes unweighted population BCE among constant predictors, but need not be optimal among feature-dependent predictors. Exact q=0 has infinite BCE if any positives occur.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constant-predictor loss L(q)=-pi log(q)-(1-pi)log(1-q), pi=0.0005. Its unique minimum is q=pi. BCE gradient with respect to logit is q-y. At q=0 positive-event loss diverges. Numerically stable BCE with logits avoids explicit log(0); it does not rebalance classes.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natural draws with prevalence pi=0.0005: P(no positives)=(1-pi)^B. Correlated/grouped sampling can change these numbers. Repeated epochs revisit the same dataset; they do not supply new independent positives.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unweighted mean BCE with sigmoid logits z, dL/dz=q-y per example before averaging. Illustration assumes all q=0.5 and examines a shared output bias: 9995*0.5=4997.5, 5*(-0.5)=-2.5. Parameter gradients also depend on features/Jacobians. At q=pi=0.0005 the shared-bias contributions balance at +4.9975 and -4.9975; class counts alone do not imply permanent gradient domination.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positive oversampling repeats existing observations. It can improve optimizer exposure to minority patterns but does not increase the independent positive sample size. Risks described are conditional, not claims that oversampling always fails.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population with no informative features: natural prevalence pi=0.0005. BCE-trained constant predictors on sampled prevalences r=0.05 or 0.25 minimize loss at r, not pi. In a feature-dependent model pure class-dependent resampling shifts posterior odds. This does not imply every real trained model has a uniform 100x or 500x error.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Weighted BCE L=-w*y*log(q)-(1-y)*log(1-q), with constant positive weight w and negative weight 1. At true conditional probability p, optimum q=w*p/(1-p+w*p). At p=0.0005, w=100 gives 4.764%; w=1999 gives 50%. Correct inverse-sampling weights are different: they restore the natural expected loss. Large weights can increase stochastic gradient variance when positives are rare.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Lin et al., Focal Loss for Dense Object Detection, ICCV 2017, https://openaccess.thecvf.com/content_iccv_2017/html/Lin_Focal_Loss_for_ICCV_2017_paper.html . Focal loss downweights well-classified examples using (1-p_t)^gamma. Hard examples may include informative positives, ambiguous events or label errors. In inherently stochastic detection the irreducible component cannot be learned away. Risks are task-specific inferences, not experimental results from that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Zhang et al., mixup: Beyond Empirical Risk Minimization, ICLR 2018, https://arxiv.org/abs/1710.09412 . x_tilde=lambda*x_plus+(1-lambda)*x_minus and y_tilde=lambda. If every pair is positive-negative and E[lambda]=0.5, mean synthetic label is 0.5. Natural independent pairs and label-independent lambda preserve prevalence in expectation. The derivation is our illustration; claims about unphysical interpolation are conditional on features/task.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distinction between Bayes uncertainty and insufficient data/model capacity. If relevant randomness is unobserved, P(Y=1|X) can remain small for all X. Balanced accuracy or rare-event recall may improve with an altered decision threshold; perfect classification is not implied by learning calibrated probabilities. This is a possible explanation, not a diagnosis of the optical dataset.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Recommendations, not completed experiments. Evaluate on untouched natural prevalence, with spatially grouped train/validation/test splits. A separate real-data BCE plus weighted synthetic auxiliary loss anchors training but does not guarantee calibration. Mean bias is predicted minus observed fraction, preferably accompanied by MAE/trend and uncertainty. Average precision baseline equals prevalence for random ranking in the population limit.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homogeneous-rate illustration pi=0.0005. Expected positives N*pi; P(zero)=(1-pi)^N. Values are not claims about every optical voxel, whose rates vary. Increasing primaries improves count precision; adding spatial locations improves coverage. The allocation tradeoff is an experimental design question.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Analytical derivations: weighted BCE optimum found by setting derivative to zero. Prior-shift correction follows Bayes odds and requires class-only sampling with unchanged class-conditional features, a calibrated sampled posterior q and known natural prevalence pi. It is not generally valid for arbitrary mixup or within-voxel selection changes. Related reading: Menon et al., Long-tail learning via logit adjustment, ICLR 2021, https://research.google/pubs/long-tail-learning-via-logit-adjustment/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Numerical examples are analytical illustrations; they are not outcomes from the optical-map experiments.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Why rare detections are hard to learn</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a:t>
            </a:r>
          </a:p>
        </p:txBody>
      </p:sp>
      <p:sp>
        <p:nvSpPr>
          <p:cNvPr id="6" name="TextBox 5"/>
          <p:cNvSpPr txBox="1"/>
          <p:nvPr/>
        </p:nvSpPr>
        <p:spPr>
          <a:xfrm>
            <a:off x="594360" y="1645920"/>
            <a:ext cx="6583680" cy="1188720"/>
          </a:xfrm>
          <a:prstGeom prst="rect">
            <a:avLst/>
          </a:prstGeom>
          <a:noFill/>
        </p:spPr>
        <p:txBody>
          <a:bodyPr wrap="none" lIns="0" rIns="0" tIns="0" bIns="0">
            <a:spAutoFit/>
          </a:bodyPr>
          <a:lstStyle/>
          <a:p>
            <a:pPr>
              <a:lnSpc>
                <a:spcPct val="123000"/>
              </a:lnSpc>
              <a:spcAft>
                <a:spcPts val="0"/>
              </a:spcAft>
              <a:defRPr sz="3400" b="1">
                <a:solidFill>
                  <a:srgbClr val="17324D"/>
                </a:solidFill>
                <a:latin typeface="DejaVu Sans"/>
              </a:defRPr>
            </a:pPr>
            <a:r>
              <a:t>Only 5 detections in</a:t>
            </a:r>
          </a:p>
          <a:p>
            <a:pPr>
              <a:lnSpc>
                <a:spcPct val="123000"/>
              </a:lnSpc>
              <a:spcAft>
                <a:spcPts val="0"/>
              </a:spcAft>
              <a:defRPr sz="3400" b="1">
                <a:solidFill>
                  <a:srgbClr val="17324D"/>
                </a:solidFill>
                <a:latin typeface="DejaVu Sans"/>
              </a:defRPr>
            </a:pPr>
            <a:r>
              <a:t>10,000 events</a:t>
            </a:r>
          </a:p>
        </p:txBody>
      </p:sp>
      <p:sp>
        <p:nvSpPr>
          <p:cNvPr id="7" name="TextBox 6"/>
          <p:cNvSpPr txBox="1"/>
          <p:nvPr/>
        </p:nvSpPr>
        <p:spPr>
          <a:xfrm>
            <a:off x="594360" y="2971800"/>
            <a:ext cx="6309360" cy="1463040"/>
          </a:xfrm>
          <a:prstGeom prst="rect">
            <a:avLst/>
          </a:prstGeom>
          <a:noFill/>
        </p:spPr>
        <p:txBody>
          <a:bodyPr wrap="none" lIns="0" rIns="0" tIns="0" bIns="0">
            <a:spAutoFit/>
          </a:bodyPr>
          <a:lstStyle/>
          <a:p>
            <a:pPr>
              <a:lnSpc>
                <a:spcPct val="123000"/>
              </a:lnSpc>
              <a:spcAft>
                <a:spcPts val="0"/>
              </a:spcAft>
              <a:defRPr sz="2500" b="0">
                <a:solidFill>
                  <a:srgbClr val="17324D"/>
                </a:solidFill>
                <a:latin typeface="DejaVu Sans"/>
              </a:defRPr>
            </a:pPr>
            <a:r>
              <a:t>At a 0.05% detection rate, a network</a:t>
            </a:r>
          </a:p>
          <a:p>
            <a:pPr>
              <a:lnSpc>
                <a:spcPct val="123000"/>
              </a:lnSpc>
              <a:spcAft>
                <a:spcPts val="0"/>
              </a:spcAft>
              <a:defRPr sz="2500" b="0">
                <a:solidFill>
                  <a:srgbClr val="17324D"/>
                </a:solidFill>
                <a:latin typeface="DejaVu Sans"/>
              </a:defRPr>
            </a:pPr>
            <a:r>
              <a:t>can look excellent while missing every</a:t>
            </a:r>
          </a:p>
          <a:p>
            <a:pPr>
              <a:lnSpc>
                <a:spcPct val="123000"/>
              </a:lnSpc>
              <a:spcAft>
                <a:spcPts val="0"/>
              </a:spcAft>
              <a:defRPr sz="2500" b="0">
                <a:solidFill>
                  <a:srgbClr val="17324D"/>
                </a:solidFill>
                <a:latin typeface="DejaVu Sans"/>
              </a:defRPr>
            </a:pPr>
            <a:r>
              <a:t>positive event.</a:t>
            </a:r>
          </a:p>
        </p:txBody>
      </p:sp>
      <p:sp>
        <p:nvSpPr>
          <p:cNvPr id="8" name="Rectangle 7"/>
          <p:cNvSpPr/>
          <p:nvPr/>
        </p:nvSpPr>
        <p:spPr>
          <a:xfrm>
            <a:off x="7498079" y="1737360"/>
            <a:ext cx="3931920" cy="347472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99248" y="1920240"/>
            <a:ext cx="3529584" cy="566928"/>
          </a:xfrm>
          <a:prstGeom prst="rect">
            <a:avLst/>
          </a:prstGeom>
          <a:noFill/>
        </p:spPr>
        <p:txBody>
          <a:bodyPr wrap="none" lIns="0" rIns="0" tIns="0" bIns="0">
            <a:spAutoFit/>
          </a:bodyPr>
          <a:lstStyle/>
          <a:p>
            <a:pPr>
              <a:lnSpc>
                <a:spcPct val="123000"/>
              </a:lnSpc>
              <a:spcAft>
                <a:spcPts val="0"/>
              </a:spcAft>
              <a:defRPr sz="1900" b="1">
                <a:solidFill>
                  <a:srgbClr val="008B8B"/>
                </a:solidFill>
                <a:latin typeface="DejaVu Sans"/>
              </a:defRPr>
            </a:pPr>
            <a:r>
              <a:t>Three different problems</a:t>
            </a:r>
          </a:p>
        </p:txBody>
      </p:sp>
      <p:sp>
        <p:nvSpPr>
          <p:cNvPr id="10" name="TextBox 9"/>
          <p:cNvSpPr txBox="1"/>
          <p:nvPr/>
        </p:nvSpPr>
        <p:spPr>
          <a:xfrm>
            <a:off x="7699248" y="2651760"/>
            <a:ext cx="3529584" cy="242316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Misleading accuracy</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Sparse evidence</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Shifted probabilities</a:t>
            </a:r>
          </a:p>
        </p:txBody>
      </p:sp>
      <p:sp>
        <p:nvSpPr>
          <p:cNvPr id="11" name="Rectangle 10"/>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The goal: learn rare-event structure without distorting the population rate.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99.95% accuracy — and zero detections found</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2</a:t>
            </a:r>
          </a:p>
        </p:txBody>
      </p:sp>
      <p:pic>
        <p:nvPicPr>
          <p:cNvPr id="6" name="Picture 5" descr="image.png"/>
          <p:cNvPicPr>
            <a:picLocks noChangeAspect="1"/>
          </p:cNvPicPr>
          <p:nvPr/>
        </p:nvPicPr>
        <p:blipFill>
          <a:blip r:embed="rId3"/>
          <a:stretch>
            <a:fillRect/>
          </a:stretch>
        </p:blipFill>
        <p:spPr>
          <a:xfrm>
            <a:off x="548640" y="1600200"/>
            <a:ext cx="6949440" cy="3383280"/>
          </a:xfrm>
          <a:prstGeom prst="rect">
            <a:avLst/>
          </a:prstGeom>
        </p:spPr>
      </p:pic>
      <p:sp>
        <p:nvSpPr>
          <p:cNvPr id="7" name="Rectangle 6"/>
          <p:cNvSpPr/>
          <p:nvPr/>
        </p:nvSpPr>
        <p:spPr>
          <a:xfrm>
            <a:off x="7772400" y="1737360"/>
            <a:ext cx="3749039" cy="347472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73568" y="1920240"/>
            <a:ext cx="3346703" cy="566928"/>
          </a:xfrm>
          <a:prstGeom prst="rect">
            <a:avLst/>
          </a:prstGeom>
          <a:noFill/>
        </p:spPr>
        <p:txBody>
          <a:bodyPr wrap="none" lIns="0" rIns="0" tIns="0" bIns="0">
            <a:spAutoFit/>
          </a:bodyPr>
          <a:lstStyle/>
          <a:p>
            <a:pPr>
              <a:lnSpc>
                <a:spcPct val="123000"/>
              </a:lnSpc>
              <a:spcAft>
                <a:spcPts val="0"/>
              </a:spcAft>
              <a:defRPr sz="1800" b="1">
                <a:solidFill>
                  <a:srgbClr val="D46C37"/>
                </a:solidFill>
                <a:latin typeface="DejaVu Sans"/>
              </a:defRPr>
            </a:pPr>
            <a:r>
              <a:t>Predict “negative” for all</a:t>
            </a:r>
          </a:p>
        </p:txBody>
      </p:sp>
      <p:sp>
        <p:nvSpPr>
          <p:cNvPr id="9" name="TextBox 8"/>
          <p:cNvSpPr txBox="1"/>
          <p:nvPr/>
        </p:nvSpPr>
        <p:spPr>
          <a:xfrm>
            <a:off x="7973568" y="2651760"/>
            <a:ext cx="3346703" cy="242316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Accuracy: 99.95%</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Positive recall: 0%</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Every detection is</a:t>
            </a:r>
          </a:p>
          <a:p>
            <a:pPr>
              <a:lnSpc>
                <a:spcPct val="123000"/>
              </a:lnSpc>
              <a:spcAft>
                <a:spcPts val="0"/>
              </a:spcAft>
              <a:defRPr sz="2100" b="0">
                <a:solidFill>
                  <a:srgbClr val="17324D"/>
                </a:solidFill>
                <a:latin typeface="DejaVu Sans"/>
              </a:defRPr>
            </a:pPr>
            <a:r>
              <a:t>missed.</a:t>
            </a:r>
          </a:p>
        </p:txBody>
      </p:sp>
      <p:sp>
        <p:nvSpPr>
          <p:cNvPr id="10" name="Rectangle 9"/>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Accuracy counts successes mostly on the abundant negative class.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A negative decision is not a zero probability</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3</a:t>
            </a:r>
          </a:p>
        </p:txBody>
      </p:sp>
      <p:sp>
        <p:nvSpPr>
          <p:cNvPr id="6" name="Rectangle 5"/>
          <p:cNvSpPr/>
          <p:nvPr/>
        </p:nvSpPr>
        <p:spPr>
          <a:xfrm>
            <a:off x="594360" y="1691640"/>
            <a:ext cx="5349240" cy="35661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87452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Classification decision</a:t>
            </a:r>
          </a:p>
        </p:txBody>
      </p:sp>
      <p:sp>
        <p:nvSpPr>
          <p:cNvPr id="8" name="TextBox 7"/>
          <p:cNvSpPr txBox="1"/>
          <p:nvPr/>
        </p:nvSpPr>
        <p:spPr>
          <a:xfrm>
            <a:off x="795528" y="2606040"/>
            <a:ext cx="4946903" cy="2514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“Does this event produce a hit?”</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If the threshold is 50%, a score of</a:t>
            </a:r>
          </a:p>
          <a:p>
            <a:pPr>
              <a:lnSpc>
                <a:spcPct val="123000"/>
              </a:lnSpc>
              <a:spcAft>
                <a:spcPts val="0"/>
              </a:spcAft>
              <a:defRPr sz="2100" b="0">
                <a:solidFill>
                  <a:srgbClr val="17324D"/>
                </a:solidFill>
                <a:latin typeface="DejaVu Sans"/>
              </a:defRPr>
            </a:pPr>
            <a:r>
              <a:t>0.05% is classified as negative.</a:t>
            </a:r>
          </a:p>
        </p:txBody>
      </p:sp>
      <p:sp>
        <p:nvSpPr>
          <p:cNvPr id="9" name="Rectangle 8"/>
          <p:cNvSpPr/>
          <p:nvPr/>
        </p:nvSpPr>
        <p:spPr>
          <a:xfrm>
            <a:off x="6217920" y="1691640"/>
            <a:ext cx="5349240" cy="35661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87452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Probability estimate</a:t>
            </a:r>
          </a:p>
        </p:txBody>
      </p:sp>
      <p:sp>
        <p:nvSpPr>
          <p:cNvPr id="11" name="TextBox 10"/>
          <p:cNvSpPr txBox="1"/>
          <p:nvPr/>
        </p:nvSpPr>
        <p:spPr>
          <a:xfrm>
            <a:off x="6419088" y="2606040"/>
            <a:ext cx="4946903" cy="2514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“How likely is a hit?”</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A score of 0.05% for all events</a:t>
            </a:r>
          </a:p>
          <a:p>
            <a:pPr>
              <a:lnSpc>
                <a:spcPct val="123000"/>
              </a:lnSpc>
              <a:spcAft>
                <a:spcPts val="0"/>
              </a:spcAft>
              <a:defRPr sz="2100" b="0">
                <a:solidFill>
                  <a:srgbClr val="17324D"/>
                </a:solidFill>
                <a:latin typeface="DejaVu Sans"/>
              </a:defRPr>
            </a:pPr>
            <a:r>
              <a:t>predicts 5 hits per 10,000 on</a:t>
            </a:r>
          </a:p>
          <a:p>
            <a:pPr>
              <a:lnSpc>
                <a:spcPct val="123000"/>
              </a:lnSpc>
              <a:spcAft>
                <a:spcPts val="0"/>
              </a:spcAft>
              <a:defRPr sz="2100" b="0">
                <a:solidFill>
                  <a:srgbClr val="17324D"/>
                </a:solidFill>
                <a:latin typeface="DejaVu Sans"/>
              </a:defRPr>
            </a:pPr>
            <a:r>
              <a:t>average.</a:t>
            </a:r>
          </a:p>
        </p:txBody>
      </p:sp>
      <p:sp>
        <p:nvSpPr>
          <p:cNvPr id="12" name="Rectangle 11"/>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A model can have zero recall at threshold 0.5 and still estimate the mean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BCE does not reward predicting exactly zero</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4</a:t>
            </a:r>
          </a:p>
        </p:txBody>
      </p:sp>
      <p:pic>
        <p:nvPicPr>
          <p:cNvPr id="6" name="Picture 5" descr="image.png"/>
          <p:cNvPicPr>
            <a:picLocks noChangeAspect="1"/>
          </p:cNvPicPr>
          <p:nvPr/>
        </p:nvPicPr>
        <p:blipFill>
          <a:blip r:embed="rId3"/>
          <a:stretch>
            <a:fillRect/>
          </a:stretch>
        </p:blipFill>
        <p:spPr>
          <a:xfrm>
            <a:off x="548640" y="1554480"/>
            <a:ext cx="6400800" cy="3886200"/>
          </a:xfrm>
          <a:prstGeom prst="rect">
            <a:avLst/>
          </a:prstGeom>
        </p:spPr>
      </p:pic>
      <p:sp>
        <p:nvSpPr>
          <p:cNvPr id="7" name="TextBox 6"/>
          <p:cNvSpPr txBox="1"/>
          <p:nvPr/>
        </p:nvSpPr>
        <p:spPr>
          <a:xfrm>
            <a:off x="7315200" y="1783080"/>
            <a:ext cx="4251960" cy="3566160"/>
          </a:xfrm>
          <a:prstGeom prst="rect">
            <a:avLst/>
          </a:prstGeom>
          <a:noFill/>
        </p:spPr>
        <p:txBody>
          <a:bodyPr wrap="none" lIns="0" rIns="0" tIns="0" bIns="0">
            <a:spAutoFit/>
          </a:bodyPr>
          <a:lstStyle/>
          <a:p>
            <a:pPr>
              <a:lnSpc>
                <a:spcPct val="123000"/>
              </a:lnSpc>
              <a:spcAft>
                <a:spcPts val="0"/>
              </a:spcAft>
              <a:defRPr sz="2300" b="0">
                <a:solidFill>
                  <a:srgbClr val="17324D"/>
                </a:solidFill>
                <a:latin typeface="DejaVu Sans"/>
              </a:defRPr>
            </a:pPr>
            <a:r>
              <a:t>A positive event has loss</a:t>
            </a:r>
          </a:p>
          <a:p>
            <a:pPr>
              <a:lnSpc>
                <a:spcPct val="123000"/>
              </a:lnSpc>
              <a:spcAft>
                <a:spcPts val="0"/>
              </a:spcAft>
              <a:defRPr sz="2300" b="0">
                <a:solidFill>
                  <a:srgbClr val="17324D"/>
                </a:solidFill>
                <a:latin typeface="DejaVu Sans"/>
              </a:defRPr>
            </a:pPr>
            <a:r>
              <a:t>−log(q).</a:t>
            </a:r>
          </a:p>
          <a:p>
            <a:pPr>
              <a:lnSpc>
                <a:spcPct val="123000"/>
              </a:lnSpc>
              <a:spcAft>
                <a:spcPts val="0"/>
              </a:spcAft>
              <a:defRPr sz="2300" b="0">
                <a:solidFill>
                  <a:srgbClr val="17324D"/>
                </a:solidFill>
                <a:latin typeface="DejaVu Sans"/>
              </a:defRPr>
            </a:pPr>
          </a:p>
          <a:p>
            <a:pPr>
              <a:lnSpc>
                <a:spcPct val="123000"/>
              </a:lnSpc>
              <a:spcAft>
                <a:spcPts val="0"/>
              </a:spcAft>
              <a:defRPr sz="2300" b="0">
                <a:solidFill>
                  <a:srgbClr val="17324D"/>
                </a:solidFill>
                <a:latin typeface="DejaVu Sans"/>
              </a:defRPr>
            </a:pPr>
            <a:r>
              <a:t>As q approaches zero, that</a:t>
            </a:r>
          </a:p>
          <a:p>
            <a:pPr>
              <a:lnSpc>
                <a:spcPct val="123000"/>
              </a:lnSpc>
              <a:spcAft>
                <a:spcPts val="0"/>
              </a:spcAft>
              <a:defRPr sz="2300" b="0">
                <a:solidFill>
                  <a:srgbClr val="17324D"/>
                </a:solidFill>
                <a:latin typeface="DejaVu Sans"/>
              </a:defRPr>
            </a:pPr>
            <a:r>
              <a:t>penalty grows without</a:t>
            </a:r>
          </a:p>
          <a:p>
            <a:pPr>
              <a:lnSpc>
                <a:spcPct val="123000"/>
              </a:lnSpc>
              <a:spcAft>
                <a:spcPts val="0"/>
              </a:spcAft>
              <a:defRPr sz="2300" b="0">
                <a:solidFill>
                  <a:srgbClr val="17324D"/>
                </a:solidFill>
                <a:latin typeface="DejaVu Sans"/>
              </a:defRPr>
            </a:pPr>
            <a:r>
              <a:t>bound.</a:t>
            </a:r>
          </a:p>
          <a:p>
            <a:pPr>
              <a:lnSpc>
                <a:spcPct val="123000"/>
              </a:lnSpc>
              <a:spcAft>
                <a:spcPts val="0"/>
              </a:spcAft>
              <a:defRPr sz="2300" b="0">
                <a:solidFill>
                  <a:srgbClr val="17324D"/>
                </a:solidFill>
                <a:latin typeface="DejaVu Sans"/>
              </a:defRPr>
            </a:pPr>
          </a:p>
          <a:p>
            <a:pPr>
              <a:lnSpc>
                <a:spcPct val="123000"/>
              </a:lnSpc>
              <a:spcAft>
                <a:spcPts val="0"/>
              </a:spcAft>
              <a:defRPr sz="2300" b="0">
                <a:solidFill>
                  <a:srgbClr val="17324D"/>
                </a:solidFill>
                <a:latin typeface="DejaVu Sans"/>
              </a:defRPr>
            </a:pPr>
            <a:r>
              <a:t>The best constant score is</a:t>
            </a:r>
          </a:p>
          <a:p>
            <a:pPr>
              <a:lnSpc>
                <a:spcPct val="123000"/>
              </a:lnSpc>
              <a:spcAft>
                <a:spcPts val="0"/>
              </a:spcAft>
              <a:defRPr sz="2300" b="0">
                <a:solidFill>
                  <a:srgbClr val="17324D"/>
                </a:solidFill>
                <a:latin typeface="DejaVu Sans"/>
              </a:defRPr>
            </a:pPr>
            <a:r>
              <a:t>the true positive fraction.</a:t>
            </a:r>
          </a:p>
        </p:txBody>
      </p:sp>
      <p:sp>
        <p:nvSpPr>
          <p:cNvPr id="8" name="Rectangle 7"/>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Near-zero scores can be sensible; failing to learn useful variation is the concern.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Many small batches contain no positive example</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5</a:t>
            </a:r>
          </a:p>
        </p:txBody>
      </p:sp>
      <p:pic>
        <p:nvPicPr>
          <p:cNvPr id="6" name="Picture 5" descr="image.png"/>
          <p:cNvPicPr>
            <a:picLocks noChangeAspect="1"/>
          </p:cNvPicPr>
          <p:nvPr/>
        </p:nvPicPr>
        <p:blipFill>
          <a:blip r:embed="rId3"/>
          <a:stretch>
            <a:fillRect/>
          </a:stretch>
        </p:blipFill>
        <p:spPr>
          <a:xfrm>
            <a:off x="594360" y="1691640"/>
            <a:ext cx="6400800" cy="3611880"/>
          </a:xfrm>
          <a:prstGeom prst="rect">
            <a:avLst/>
          </a:prstGeom>
        </p:spPr>
      </p:pic>
      <p:sp>
        <p:nvSpPr>
          <p:cNvPr id="7" name="TextBox 6"/>
          <p:cNvSpPr txBox="1"/>
          <p:nvPr/>
        </p:nvSpPr>
        <p:spPr>
          <a:xfrm>
            <a:off x="7315200" y="1737360"/>
            <a:ext cx="4206240" cy="3474720"/>
          </a:xfrm>
          <a:prstGeom prst="rect">
            <a:avLst/>
          </a:prstGeom>
          <a:noFill/>
        </p:spPr>
        <p:txBody>
          <a:bodyPr wrap="none" lIns="0" rIns="0" tIns="0" bIns="0">
            <a:spAutoFit/>
          </a:bodyPr>
          <a:lstStyle/>
          <a:p>
            <a:pPr>
              <a:lnSpc>
                <a:spcPct val="123000"/>
              </a:lnSpc>
              <a:spcAft>
                <a:spcPts val="0"/>
              </a:spcAft>
              <a:defRPr sz="2300" b="0">
                <a:solidFill>
                  <a:srgbClr val="17324D"/>
                </a:solidFill>
                <a:latin typeface="DejaVu Sans"/>
              </a:defRPr>
            </a:pPr>
            <a:r>
              <a:t>At 0.05% positives:</a:t>
            </a:r>
          </a:p>
          <a:p>
            <a:pPr>
              <a:lnSpc>
                <a:spcPct val="123000"/>
              </a:lnSpc>
              <a:spcAft>
                <a:spcPts val="0"/>
              </a:spcAft>
              <a:defRPr sz="2300" b="0">
                <a:solidFill>
                  <a:srgbClr val="17324D"/>
                </a:solidFill>
                <a:latin typeface="DejaVu Sans"/>
              </a:defRPr>
            </a:pPr>
          </a:p>
          <a:p>
            <a:pPr>
              <a:lnSpc>
                <a:spcPct val="123000"/>
              </a:lnSpc>
              <a:spcAft>
                <a:spcPts val="0"/>
              </a:spcAft>
              <a:defRPr sz="2300" b="0">
                <a:solidFill>
                  <a:srgbClr val="17324D"/>
                </a:solidFill>
                <a:latin typeface="DejaVu Sans"/>
              </a:defRPr>
            </a:pPr>
            <a:r>
              <a:t>A batch of 512 has only</a:t>
            </a:r>
          </a:p>
          <a:p>
            <a:pPr>
              <a:lnSpc>
                <a:spcPct val="123000"/>
              </a:lnSpc>
              <a:spcAft>
                <a:spcPts val="0"/>
              </a:spcAft>
              <a:defRPr sz="2300" b="0">
                <a:solidFill>
                  <a:srgbClr val="17324D"/>
                </a:solidFill>
                <a:latin typeface="DejaVu Sans"/>
              </a:defRPr>
            </a:pPr>
            <a:r>
              <a:t>0.256 positives on average.</a:t>
            </a:r>
          </a:p>
          <a:p>
            <a:pPr>
              <a:lnSpc>
                <a:spcPct val="123000"/>
              </a:lnSpc>
              <a:spcAft>
                <a:spcPts val="0"/>
              </a:spcAft>
              <a:defRPr sz="2300" b="0">
                <a:solidFill>
                  <a:srgbClr val="17324D"/>
                </a:solidFill>
                <a:latin typeface="DejaVu Sans"/>
              </a:defRPr>
            </a:pPr>
          </a:p>
          <a:p>
            <a:pPr>
              <a:lnSpc>
                <a:spcPct val="123000"/>
              </a:lnSpc>
              <a:spcAft>
                <a:spcPts val="0"/>
              </a:spcAft>
              <a:defRPr sz="2300" b="0">
                <a:solidFill>
                  <a:srgbClr val="17324D"/>
                </a:solidFill>
                <a:latin typeface="DejaVu Sans"/>
              </a:defRPr>
            </a:pPr>
            <a:r>
              <a:t>Most such updates contain</a:t>
            </a:r>
          </a:p>
          <a:p>
            <a:pPr>
              <a:lnSpc>
                <a:spcPct val="123000"/>
              </a:lnSpc>
              <a:spcAft>
                <a:spcPts val="0"/>
              </a:spcAft>
              <a:defRPr sz="2300" b="0">
                <a:solidFill>
                  <a:srgbClr val="17324D"/>
                </a:solidFill>
                <a:latin typeface="DejaVu Sans"/>
              </a:defRPr>
            </a:pPr>
            <a:r>
              <a:t>only negative examples.</a:t>
            </a:r>
          </a:p>
        </p:txBody>
      </p:sp>
      <p:sp>
        <p:nvSpPr>
          <p:cNvPr id="8" name="Rectangle 7"/>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Larger or stratified batches improve exposure; they do not create new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Early training can mostly learn “make scores</a:t>
            </a:r>
          </a:p>
          <a:p>
            <a:pPr>
              <a:lnSpc>
                <a:spcPct val="123000"/>
              </a:lnSpc>
              <a:spcAft>
                <a:spcPts val="0"/>
              </a:spcAft>
              <a:defRPr sz="2900" b="1">
                <a:solidFill>
                  <a:srgbClr val="17324D"/>
                </a:solidFill>
                <a:latin typeface="DejaVu Sans"/>
              </a:defRPr>
            </a:pPr>
            <a:r>
              <a:t>smaller”</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6</a:t>
            </a:r>
          </a:p>
        </p:txBody>
      </p:sp>
      <p:sp>
        <p:nvSpPr>
          <p:cNvPr id="6" name="Rectangle 5"/>
          <p:cNvSpPr/>
          <p:nvPr/>
        </p:nvSpPr>
        <p:spPr>
          <a:xfrm>
            <a:off x="594360" y="1691640"/>
            <a:ext cx="5349240" cy="34290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874520"/>
            <a:ext cx="4946903"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9,995 negative events</a:t>
            </a:r>
          </a:p>
        </p:txBody>
      </p:sp>
      <p:sp>
        <p:nvSpPr>
          <p:cNvPr id="8" name="TextBox 7"/>
          <p:cNvSpPr txBox="1"/>
          <p:nvPr/>
        </p:nvSpPr>
        <p:spPr>
          <a:xfrm>
            <a:off x="795528" y="2606040"/>
            <a:ext cx="4946903" cy="237744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Start with scores near 50%.</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Together, negatives strongly push</a:t>
            </a:r>
          </a:p>
          <a:p>
            <a:pPr>
              <a:lnSpc>
                <a:spcPct val="123000"/>
              </a:lnSpc>
              <a:spcAft>
                <a:spcPts val="0"/>
              </a:spcAft>
              <a:defRPr sz="2100" b="0">
                <a:solidFill>
                  <a:srgbClr val="17324D"/>
                </a:solidFill>
                <a:latin typeface="DejaVu Sans"/>
              </a:defRPr>
            </a:pPr>
            <a:r>
              <a:t>the shared output bias downward.</a:t>
            </a:r>
          </a:p>
        </p:txBody>
      </p:sp>
      <p:sp>
        <p:nvSpPr>
          <p:cNvPr id="9" name="Rectangle 8"/>
          <p:cNvSpPr/>
          <p:nvPr/>
        </p:nvSpPr>
        <p:spPr>
          <a:xfrm>
            <a:off x="6217920" y="1691640"/>
            <a:ext cx="5349240" cy="34290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87452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5 positive events</a:t>
            </a:r>
          </a:p>
        </p:txBody>
      </p:sp>
      <p:sp>
        <p:nvSpPr>
          <p:cNvPr id="11" name="TextBox 10"/>
          <p:cNvSpPr txBox="1"/>
          <p:nvPr/>
        </p:nvSpPr>
        <p:spPr>
          <a:xfrm>
            <a:off x="6419088" y="2606040"/>
            <a:ext cx="4946903" cy="237744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Each positive pushes upward.</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There are very few examples from</a:t>
            </a:r>
          </a:p>
          <a:p>
            <a:pPr>
              <a:lnSpc>
                <a:spcPct val="123000"/>
              </a:lnSpc>
              <a:spcAft>
                <a:spcPts val="0"/>
              </a:spcAft>
              <a:defRPr sz="2100" b="0">
                <a:solidFill>
                  <a:srgbClr val="17324D"/>
                </a:solidFill>
                <a:latin typeface="DejaVu Sans"/>
              </a:defRPr>
            </a:pPr>
            <a:r>
              <a:t>which to learn a generalizable</a:t>
            </a:r>
          </a:p>
          <a:p>
            <a:pPr>
              <a:lnSpc>
                <a:spcPct val="123000"/>
              </a:lnSpc>
              <a:spcAft>
                <a:spcPts val="0"/>
              </a:spcAft>
              <a:defRPr sz="2100" b="0">
                <a:solidFill>
                  <a:srgbClr val="17324D"/>
                </a:solidFill>
                <a:latin typeface="DejaVu Sans"/>
              </a:defRPr>
            </a:pPr>
            <a:r>
              <a:t>positive pattern.</a:t>
            </a:r>
          </a:p>
        </p:txBody>
      </p:sp>
      <p:sp>
        <p:nvSpPr>
          <p:cNvPr id="12" name="TextBox 11"/>
          <p:cNvSpPr txBox="1"/>
          <p:nvPr/>
        </p:nvSpPr>
        <p:spPr>
          <a:xfrm>
            <a:off x="777240" y="5257800"/>
            <a:ext cx="10789920" cy="365760"/>
          </a:xfrm>
          <a:prstGeom prst="rect">
            <a:avLst/>
          </a:prstGeom>
          <a:noFill/>
        </p:spPr>
        <p:txBody>
          <a:bodyPr wrap="none" lIns="0" rIns="0" tIns="0" bIns="0">
            <a:spAutoFit/>
          </a:bodyPr>
          <a:lstStyle/>
          <a:p>
            <a:pPr>
              <a:lnSpc>
                <a:spcPct val="123000"/>
              </a:lnSpc>
              <a:spcAft>
                <a:spcPts val="0"/>
              </a:spcAft>
              <a:defRPr sz="1800" b="0">
                <a:solidFill>
                  <a:srgbClr val="17324D"/>
                </a:solidFill>
                <a:latin typeface="DejaVu Sans"/>
              </a:defRPr>
            </a:pPr>
            <a:r>
              <a:t>As scores fall, easy-negative gradients shrink. This is not an unavoidable zero-loss trap.</a:t>
            </a:r>
          </a:p>
        </p:txBody>
      </p:sp>
      <p:sp>
        <p:nvSpPr>
          <p:cNvPr id="13" name="Rectangle 12"/>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Learning the overall rarity can be much easier than learning who is more likely.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Oversampling makes positives visible — not more</a:t>
            </a:r>
          </a:p>
          <a:p>
            <a:pPr>
              <a:lnSpc>
                <a:spcPct val="123000"/>
              </a:lnSpc>
              <a:spcAft>
                <a:spcPts val="0"/>
              </a:spcAft>
              <a:defRPr sz="2900" b="1">
                <a:solidFill>
                  <a:srgbClr val="17324D"/>
                </a:solidFill>
                <a:latin typeface="DejaVu Sans"/>
              </a:defRPr>
            </a:pPr>
            <a:r>
              <a:t>diverse</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7</a:t>
            </a:r>
          </a:p>
        </p:txBody>
      </p:sp>
      <p:sp>
        <p:nvSpPr>
          <p:cNvPr id="6" name="Rectangle 5"/>
          <p:cNvSpPr/>
          <p:nvPr/>
        </p:nvSpPr>
        <p:spPr>
          <a:xfrm>
            <a:off x="594360" y="1737360"/>
            <a:ext cx="3520440" cy="35204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920240"/>
            <a:ext cx="3118104"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Original data</a:t>
            </a:r>
          </a:p>
        </p:txBody>
      </p:sp>
      <p:sp>
        <p:nvSpPr>
          <p:cNvPr id="8" name="TextBox 7"/>
          <p:cNvSpPr txBox="1"/>
          <p:nvPr/>
        </p:nvSpPr>
        <p:spPr>
          <a:xfrm>
            <a:off x="795528" y="2651760"/>
            <a:ext cx="3118104" cy="246888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5 distinct positives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A few examples of</a:t>
            </a:r>
          </a:p>
          <a:p>
            <a:pPr>
              <a:lnSpc>
                <a:spcPct val="123000"/>
              </a:lnSpc>
              <a:spcAft>
                <a:spcPts val="0"/>
              </a:spcAft>
              <a:defRPr sz="2100" b="0">
                <a:solidFill>
                  <a:srgbClr val="17324D"/>
                </a:solidFill>
                <a:latin typeface="DejaVu Sans"/>
              </a:defRPr>
            </a:pPr>
            <a:r>
              <a:t>what a detection looks</a:t>
            </a:r>
          </a:p>
          <a:p>
            <a:pPr>
              <a:lnSpc>
                <a:spcPct val="123000"/>
              </a:lnSpc>
              <a:spcAft>
                <a:spcPts val="0"/>
              </a:spcAft>
              <a:defRPr sz="2100" b="0">
                <a:solidFill>
                  <a:srgbClr val="17324D"/>
                </a:solidFill>
                <a:latin typeface="DejaVu Sans"/>
              </a:defRPr>
            </a:pPr>
            <a:r>
              <a:t>like.</a:t>
            </a:r>
          </a:p>
        </p:txBody>
      </p:sp>
      <p:sp>
        <p:nvSpPr>
          <p:cNvPr id="9" name="Rectangle 8"/>
          <p:cNvSpPr/>
          <p:nvPr/>
        </p:nvSpPr>
        <p:spPr>
          <a:xfrm>
            <a:off x="4343400" y="1737360"/>
            <a:ext cx="3520440" cy="35204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920240"/>
            <a:ext cx="3118104" cy="566928"/>
          </a:xfrm>
          <a:prstGeom prst="rect">
            <a:avLst/>
          </a:prstGeom>
          <a:noFill/>
        </p:spPr>
        <p:txBody>
          <a:bodyPr wrap="none" lIns="0" rIns="0" tIns="0" bIns="0">
            <a:spAutoFit/>
          </a:bodyPr>
          <a:lstStyle/>
          <a:p>
            <a:pPr>
              <a:lnSpc>
                <a:spcPct val="123000"/>
              </a:lnSpc>
              <a:spcAft>
                <a:spcPts val="0"/>
              </a:spcAft>
              <a:defRPr sz="2000" b="1">
                <a:solidFill>
                  <a:srgbClr val="008B8B"/>
                </a:solidFill>
                <a:latin typeface="DejaVu Sans"/>
              </a:defRPr>
            </a:pPr>
            <a:r>
              <a:t>Oversampled batches</a:t>
            </a:r>
          </a:p>
        </p:txBody>
      </p:sp>
      <p:sp>
        <p:nvSpPr>
          <p:cNvPr id="11" name="TextBox 10"/>
          <p:cNvSpPr txBox="1"/>
          <p:nvPr/>
        </p:nvSpPr>
        <p:spPr>
          <a:xfrm>
            <a:off x="4544568" y="2651760"/>
            <a:ext cx="3118104" cy="246888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The same 5 positives</a:t>
            </a:r>
          </a:p>
          <a:p>
            <a:pPr>
              <a:lnSpc>
                <a:spcPct val="123000"/>
              </a:lnSpc>
              <a:spcAft>
                <a:spcPts val="0"/>
              </a:spcAft>
              <a:defRPr sz="2100" b="0">
                <a:solidFill>
                  <a:srgbClr val="17324D"/>
                </a:solidFill>
                <a:latin typeface="DejaVu Sans"/>
              </a:defRPr>
            </a:pPr>
            <a:r>
              <a:t>appear repeatedly.</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More training</a:t>
            </a:r>
          </a:p>
          <a:p>
            <a:pPr>
              <a:lnSpc>
                <a:spcPct val="123000"/>
              </a:lnSpc>
              <a:spcAft>
                <a:spcPts val="0"/>
              </a:spcAft>
              <a:defRPr sz="2100" b="0">
                <a:solidFill>
                  <a:srgbClr val="17324D"/>
                </a:solidFill>
                <a:latin typeface="DejaVu Sans"/>
              </a:defRPr>
            </a:pPr>
            <a:r>
              <a:t>exposure.</a:t>
            </a:r>
          </a:p>
        </p:txBody>
      </p:sp>
      <p:sp>
        <p:nvSpPr>
          <p:cNvPr id="12" name="Rectangle 11"/>
          <p:cNvSpPr/>
          <p:nvPr/>
        </p:nvSpPr>
        <p:spPr>
          <a:xfrm>
            <a:off x="8092440" y="1737360"/>
            <a:ext cx="3520440" cy="35204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920240"/>
            <a:ext cx="3118104"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Possible failure</a:t>
            </a:r>
          </a:p>
        </p:txBody>
      </p:sp>
      <p:sp>
        <p:nvSpPr>
          <p:cNvPr id="14" name="TextBox 13"/>
          <p:cNvSpPr txBox="1"/>
          <p:nvPr/>
        </p:nvSpPr>
        <p:spPr>
          <a:xfrm>
            <a:off x="8293608" y="2651760"/>
            <a:ext cx="3118104" cy="246888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The model memorizes</a:t>
            </a:r>
          </a:p>
          <a:p>
            <a:pPr>
              <a:lnSpc>
                <a:spcPct val="123000"/>
              </a:lnSpc>
              <a:spcAft>
                <a:spcPts val="0"/>
              </a:spcAft>
              <a:defRPr sz="2100" b="0">
                <a:solidFill>
                  <a:srgbClr val="17324D"/>
                </a:solidFill>
                <a:latin typeface="DejaVu Sans"/>
              </a:defRPr>
            </a:pPr>
            <a:r>
              <a:t>those examples.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Unseen positives</a:t>
            </a:r>
          </a:p>
          <a:p>
            <a:pPr>
              <a:lnSpc>
                <a:spcPct val="123000"/>
              </a:lnSpc>
              <a:spcAft>
                <a:spcPts val="0"/>
              </a:spcAft>
              <a:defRPr sz="2100" b="0">
                <a:solidFill>
                  <a:srgbClr val="17324D"/>
                </a:solidFill>
                <a:latin typeface="DejaVu Sans"/>
              </a:defRPr>
            </a:pPr>
            <a:r>
              <a:t>remain difficult.</a:t>
            </a:r>
          </a:p>
        </p:txBody>
      </p:sp>
      <p:sp>
        <p:nvSpPr>
          <p:cNvPr id="15" name="Rectangle 14"/>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More repetitions help optimization; more independent positives help generalization.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Changing the class balance changes what scores</a:t>
            </a:r>
          </a:p>
          <a:p>
            <a:pPr>
              <a:lnSpc>
                <a:spcPct val="123000"/>
              </a:lnSpc>
              <a:spcAft>
                <a:spcPts val="0"/>
              </a:spcAft>
              <a:defRPr sz="2900" b="1">
                <a:solidFill>
                  <a:srgbClr val="17324D"/>
                </a:solidFill>
                <a:latin typeface="DejaVu Sans"/>
              </a:defRPr>
            </a:pPr>
            <a:r>
              <a:t>mean</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8</a:t>
            </a:r>
          </a:p>
        </p:txBody>
      </p:sp>
      <p:sp>
        <p:nvSpPr>
          <p:cNvPr id="6" name="TextBox 5"/>
          <p:cNvSpPr txBox="1"/>
          <p:nvPr/>
        </p:nvSpPr>
        <p:spPr>
          <a:xfrm>
            <a:off x="731520" y="1691640"/>
            <a:ext cx="10789920" cy="594360"/>
          </a:xfrm>
          <a:prstGeom prst="rect">
            <a:avLst/>
          </a:prstGeom>
          <a:noFill/>
        </p:spPr>
        <p:txBody>
          <a:bodyPr wrap="none" lIns="0" rIns="0" tIns="0" bIns="0">
            <a:spAutoFit/>
          </a:bodyPr>
          <a:lstStyle/>
          <a:p>
            <a:pPr>
              <a:lnSpc>
                <a:spcPct val="123000"/>
              </a:lnSpc>
              <a:spcAft>
                <a:spcPts val="0"/>
              </a:spcAft>
              <a:defRPr sz="2300" b="0">
                <a:solidFill>
                  <a:srgbClr val="17324D"/>
                </a:solidFill>
                <a:latin typeface="DejaVu Sans"/>
              </a:defRPr>
            </a:pPr>
            <a:r>
              <a:t>Toy example: the features contain no information about the label.</a:t>
            </a:r>
          </a:p>
        </p:txBody>
      </p:sp>
      <p:sp>
        <p:nvSpPr>
          <p:cNvPr id="7" name="Rectangle 6"/>
          <p:cNvSpPr/>
          <p:nvPr/>
        </p:nvSpPr>
        <p:spPr>
          <a:xfrm>
            <a:off x="640080" y="2468880"/>
            <a:ext cx="3246120" cy="2606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651760"/>
            <a:ext cx="2916936" cy="640080"/>
          </a:xfrm>
          <a:prstGeom prst="rect">
            <a:avLst/>
          </a:prstGeom>
          <a:noFill/>
        </p:spPr>
        <p:txBody>
          <a:bodyPr wrap="none" lIns="0" rIns="0" tIns="0" bIns="0">
            <a:spAutoFit/>
          </a:bodyPr>
          <a:lstStyle/>
          <a:p>
            <a:pPr>
              <a:lnSpc>
                <a:spcPct val="123000"/>
              </a:lnSpc>
              <a:spcAft>
                <a:spcPts val="0"/>
              </a:spcAft>
              <a:defRPr sz="2200" b="1">
                <a:solidFill>
                  <a:srgbClr val="008B8B"/>
                </a:solidFill>
                <a:latin typeface="DejaVu Sans"/>
              </a:defRPr>
            </a:pPr>
            <a:r>
              <a:t>Natural data</a:t>
            </a:r>
          </a:p>
        </p:txBody>
      </p:sp>
      <p:sp>
        <p:nvSpPr>
          <p:cNvPr id="9" name="TextBox 8"/>
          <p:cNvSpPr txBox="1"/>
          <p:nvPr/>
        </p:nvSpPr>
        <p:spPr>
          <a:xfrm>
            <a:off x="804671" y="3429000"/>
            <a:ext cx="2916936" cy="822960"/>
          </a:xfrm>
          <a:prstGeom prst="rect">
            <a:avLst/>
          </a:prstGeom>
          <a:noFill/>
        </p:spPr>
        <p:txBody>
          <a:bodyPr wrap="none" lIns="0" rIns="0" tIns="0" bIns="0">
            <a:spAutoFit/>
          </a:bodyPr>
          <a:lstStyle/>
          <a:p>
            <a:pPr>
              <a:lnSpc>
                <a:spcPct val="123000"/>
              </a:lnSpc>
              <a:spcAft>
                <a:spcPts val="0"/>
              </a:spcAft>
              <a:defRPr sz="4000" b="1">
                <a:solidFill>
                  <a:srgbClr val="008B8B"/>
                </a:solidFill>
                <a:latin typeface="DejaVu Sans"/>
              </a:defRPr>
            </a:pPr>
            <a:r>
              <a:t>0.05%</a:t>
            </a:r>
          </a:p>
        </p:txBody>
      </p:sp>
      <p:sp>
        <p:nvSpPr>
          <p:cNvPr id="10" name="TextBox 9"/>
          <p:cNvSpPr txBox="1"/>
          <p:nvPr/>
        </p:nvSpPr>
        <p:spPr>
          <a:xfrm>
            <a:off x="804671" y="4480560"/>
            <a:ext cx="2916936" cy="411480"/>
          </a:xfrm>
          <a:prstGeom prst="rect">
            <a:avLst/>
          </a:prstGeom>
          <a:noFill/>
        </p:spPr>
        <p:txBody>
          <a:bodyPr wrap="none" lIns="0" rIns="0" tIns="0" bIns="0">
            <a:spAutoFit/>
          </a:bodyPr>
          <a:lstStyle/>
          <a:p>
            <a:pPr>
              <a:lnSpc>
                <a:spcPct val="123000"/>
              </a:lnSpc>
              <a:spcAft>
                <a:spcPts val="0"/>
              </a:spcAft>
              <a:defRPr sz="1600" b="0">
                <a:solidFill>
                  <a:srgbClr val="17324D"/>
                </a:solidFill>
                <a:latin typeface="DejaVu Sans"/>
              </a:defRPr>
            </a:pPr>
            <a:r>
              <a:t>Best constant BCE score</a:t>
            </a:r>
          </a:p>
        </p:txBody>
      </p:sp>
      <p:sp>
        <p:nvSpPr>
          <p:cNvPr id="11" name="Rectangle 10"/>
          <p:cNvSpPr/>
          <p:nvPr/>
        </p:nvSpPr>
        <p:spPr>
          <a:xfrm>
            <a:off x="4480560" y="2468880"/>
            <a:ext cx="3246120" cy="2606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2651760"/>
            <a:ext cx="2916936" cy="640080"/>
          </a:xfrm>
          <a:prstGeom prst="rect">
            <a:avLst/>
          </a:prstGeom>
          <a:noFill/>
        </p:spPr>
        <p:txBody>
          <a:bodyPr wrap="none" lIns="0" rIns="0" tIns="0" bIns="0">
            <a:spAutoFit/>
          </a:bodyPr>
          <a:lstStyle/>
          <a:p>
            <a:pPr>
              <a:lnSpc>
                <a:spcPct val="123000"/>
              </a:lnSpc>
              <a:spcAft>
                <a:spcPts val="0"/>
              </a:spcAft>
              <a:defRPr sz="2000" b="1">
                <a:solidFill>
                  <a:srgbClr val="D46C37"/>
                </a:solidFill>
                <a:latin typeface="DejaVu Sans"/>
              </a:defRPr>
            </a:pPr>
            <a:r>
              <a:t>5% positive batches</a:t>
            </a:r>
          </a:p>
        </p:txBody>
      </p:sp>
      <p:sp>
        <p:nvSpPr>
          <p:cNvPr id="13" name="TextBox 12"/>
          <p:cNvSpPr txBox="1"/>
          <p:nvPr/>
        </p:nvSpPr>
        <p:spPr>
          <a:xfrm>
            <a:off x="4645152" y="3429000"/>
            <a:ext cx="2916936" cy="822960"/>
          </a:xfrm>
          <a:prstGeom prst="rect">
            <a:avLst/>
          </a:prstGeom>
          <a:noFill/>
        </p:spPr>
        <p:txBody>
          <a:bodyPr wrap="none" lIns="0" rIns="0" tIns="0" bIns="0">
            <a:spAutoFit/>
          </a:bodyPr>
          <a:lstStyle/>
          <a:p>
            <a:pPr>
              <a:lnSpc>
                <a:spcPct val="123000"/>
              </a:lnSpc>
              <a:spcAft>
                <a:spcPts val="0"/>
              </a:spcAft>
              <a:defRPr sz="4000" b="1">
                <a:solidFill>
                  <a:srgbClr val="D46C37"/>
                </a:solidFill>
                <a:latin typeface="DejaVu Sans"/>
              </a:defRPr>
            </a:pPr>
            <a:r>
              <a:t>5%</a:t>
            </a:r>
          </a:p>
        </p:txBody>
      </p:sp>
      <p:sp>
        <p:nvSpPr>
          <p:cNvPr id="14" name="TextBox 13"/>
          <p:cNvSpPr txBox="1"/>
          <p:nvPr/>
        </p:nvSpPr>
        <p:spPr>
          <a:xfrm>
            <a:off x="4645152" y="4480560"/>
            <a:ext cx="2916936" cy="411480"/>
          </a:xfrm>
          <a:prstGeom prst="rect">
            <a:avLst/>
          </a:prstGeom>
          <a:noFill/>
        </p:spPr>
        <p:txBody>
          <a:bodyPr wrap="none" lIns="0" rIns="0" tIns="0" bIns="0">
            <a:spAutoFit/>
          </a:bodyPr>
          <a:lstStyle/>
          <a:p>
            <a:pPr>
              <a:lnSpc>
                <a:spcPct val="123000"/>
              </a:lnSpc>
              <a:spcAft>
                <a:spcPts val="0"/>
              </a:spcAft>
              <a:defRPr sz="1600" b="0">
                <a:solidFill>
                  <a:srgbClr val="17324D"/>
                </a:solidFill>
                <a:latin typeface="DejaVu Sans"/>
              </a:defRPr>
            </a:pPr>
            <a:r>
              <a:t>100× the population rate</a:t>
            </a:r>
          </a:p>
        </p:txBody>
      </p:sp>
      <p:sp>
        <p:nvSpPr>
          <p:cNvPr id="15" name="Rectangle 14"/>
          <p:cNvSpPr/>
          <p:nvPr/>
        </p:nvSpPr>
        <p:spPr>
          <a:xfrm>
            <a:off x="8321040" y="2468880"/>
            <a:ext cx="3246120" cy="26060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651760"/>
            <a:ext cx="2916936" cy="640080"/>
          </a:xfrm>
          <a:prstGeom prst="rect">
            <a:avLst/>
          </a:prstGeom>
          <a:noFill/>
        </p:spPr>
        <p:txBody>
          <a:bodyPr wrap="none" lIns="0" rIns="0" tIns="0" bIns="0">
            <a:spAutoFit/>
          </a:bodyPr>
          <a:lstStyle/>
          <a:p>
            <a:pPr>
              <a:lnSpc>
                <a:spcPct val="123000"/>
              </a:lnSpc>
              <a:spcAft>
                <a:spcPts val="0"/>
              </a:spcAft>
              <a:defRPr sz="2000" b="1">
                <a:solidFill>
                  <a:srgbClr val="D46C37"/>
                </a:solidFill>
                <a:latin typeface="DejaVu Sans"/>
              </a:defRPr>
            </a:pPr>
            <a:r>
              <a:t>25% positive</a:t>
            </a:r>
          </a:p>
          <a:p>
            <a:pPr>
              <a:lnSpc>
                <a:spcPct val="123000"/>
              </a:lnSpc>
              <a:spcAft>
                <a:spcPts val="0"/>
              </a:spcAft>
              <a:defRPr sz="2000" b="1">
                <a:solidFill>
                  <a:srgbClr val="D46C37"/>
                </a:solidFill>
                <a:latin typeface="DejaVu Sans"/>
              </a:defRPr>
            </a:pPr>
            <a:r>
              <a:t>batches</a:t>
            </a:r>
          </a:p>
        </p:txBody>
      </p:sp>
      <p:sp>
        <p:nvSpPr>
          <p:cNvPr id="17" name="TextBox 16"/>
          <p:cNvSpPr txBox="1"/>
          <p:nvPr/>
        </p:nvSpPr>
        <p:spPr>
          <a:xfrm>
            <a:off x="8485632" y="3429000"/>
            <a:ext cx="2916936" cy="822960"/>
          </a:xfrm>
          <a:prstGeom prst="rect">
            <a:avLst/>
          </a:prstGeom>
          <a:noFill/>
        </p:spPr>
        <p:txBody>
          <a:bodyPr wrap="none" lIns="0" rIns="0" tIns="0" bIns="0">
            <a:spAutoFit/>
          </a:bodyPr>
          <a:lstStyle/>
          <a:p>
            <a:pPr>
              <a:lnSpc>
                <a:spcPct val="123000"/>
              </a:lnSpc>
              <a:spcAft>
                <a:spcPts val="0"/>
              </a:spcAft>
              <a:defRPr sz="4000" b="1">
                <a:solidFill>
                  <a:srgbClr val="D46C37"/>
                </a:solidFill>
                <a:latin typeface="DejaVu Sans"/>
              </a:defRPr>
            </a:pPr>
            <a:r>
              <a:t>25%</a:t>
            </a:r>
          </a:p>
        </p:txBody>
      </p:sp>
      <p:sp>
        <p:nvSpPr>
          <p:cNvPr id="18" name="TextBox 17"/>
          <p:cNvSpPr txBox="1"/>
          <p:nvPr/>
        </p:nvSpPr>
        <p:spPr>
          <a:xfrm>
            <a:off x="8485632" y="4480560"/>
            <a:ext cx="2916936" cy="411480"/>
          </a:xfrm>
          <a:prstGeom prst="rect">
            <a:avLst/>
          </a:prstGeom>
          <a:noFill/>
        </p:spPr>
        <p:txBody>
          <a:bodyPr wrap="none" lIns="0" rIns="0" tIns="0" bIns="0">
            <a:spAutoFit/>
          </a:bodyPr>
          <a:lstStyle/>
          <a:p>
            <a:pPr>
              <a:lnSpc>
                <a:spcPct val="123000"/>
              </a:lnSpc>
              <a:spcAft>
                <a:spcPts val="0"/>
              </a:spcAft>
              <a:defRPr sz="1600" b="0">
                <a:solidFill>
                  <a:srgbClr val="17324D"/>
                </a:solidFill>
                <a:latin typeface="DejaVu Sans"/>
              </a:defRPr>
            </a:pPr>
            <a:r>
              <a:t>500× the population rate</a:t>
            </a:r>
          </a:p>
        </p:txBody>
      </p:sp>
      <p:sp>
        <p:nvSpPr>
          <p:cNvPr id="19" name="Rectangle 18"/>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Better positive recall can come with an upward bias in predicted detection rates.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Reweighting also changes the training objective</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9</a:t>
            </a:r>
          </a:p>
        </p:txBody>
      </p:sp>
      <p:sp>
        <p:nvSpPr>
          <p:cNvPr id="6" name="Rectangle 5"/>
          <p:cNvSpPr/>
          <p:nvPr/>
        </p:nvSpPr>
        <p:spPr>
          <a:xfrm>
            <a:off x="594360" y="1737360"/>
            <a:ext cx="5349240" cy="35661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92024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What it does</a:t>
            </a:r>
          </a:p>
        </p:txBody>
      </p:sp>
      <p:sp>
        <p:nvSpPr>
          <p:cNvPr id="8" name="TextBox 7"/>
          <p:cNvSpPr txBox="1"/>
          <p:nvPr/>
        </p:nvSpPr>
        <p:spPr>
          <a:xfrm>
            <a:off x="795528" y="2651760"/>
            <a:ext cx="4946903" cy="2514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A positive mistake receives a larger</a:t>
            </a:r>
          </a:p>
          <a:p>
            <a:pPr>
              <a:lnSpc>
                <a:spcPct val="123000"/>
              </a:lnSpc>
              <a:spcAft>
                <a:spcPts val="0"/>
              </a:spcAft>
              <a:defRPr sz="2100" b="0">
                <a:solidFill>
                  <a:srgbClr val="17324D"/>
                </a:solidFill>
                <a:latin typeface="DejaVu Sans"/>
              </a:defRPr>
            </a:pPr>
            <a:r>
              <a:t>penalty.</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This can encourage the network to</a:t>
            </a:r>
          </a:p>
          <a:p>
            <a:pPr>
              <a:lnSpc>
                <a:spcPct val="123000"/>
              </a:lnSpc>
              <a:spcAft>
                <a:spcPts val="0"/>
              </a:spcAft>
              <a:defRPr sz="2100" b="0">
                <a:solidFill>
                  <a:srgbClr val="17324D"/>
                </a:solidFill>
                <a:latin typeface="DejaVu Sans"/>
              </a:defRPr>
            </a:pPr>
            <a:r>
              <a:t>learn rare positive patterns.</a:t>
            </a:r>
          </a:p>
        </p:txBody>
      </p:sp>
      <p:sp>
        <p:nvSpPr>
          <p:cNvPr id="9" name="Rectangle 8"/>
          <p:cNvSpPr/>
          <p:nvPr/>
        </p:nvSpPr>
        <p:spPr>
          <a:xfrm>
            <a:off x="6217920" y="1737360"/>
            <a:ext cx="5349240" cy="35661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920240"/>
            <a:ext cx="4946903"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Why it can disappoint</a:t>
            </a:r>
          </a:p>
        </p:txBody>
      </p:sp>
      <p:sp>
        <p:nvSpPr>
          <p:cNvPr id="11" name="TextBox 10"/>
          <p:cNvSpPr txBox="1"/>
          <p:nvPr/>
        </p:nvSpPr>
        <p:spPr>
          <a:xfrm>
            <a:off x="6419088" y="2651760"/>
            <a:ext cx="4946903" cy="2514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A few positives can drive noisy</a:t>
            </a:r>
          </a:p>
          <a:p>
            <a:pPr>
              <a:lnSpc>
                <a:spcPct val="123000"/>
              </a:lnSpc>
              <a:spcAft>
                <a:spcPts val="0"/>
              </a:spcAft>
              <a:defRPr sz="2100" b="0">
                <a:solidFill>
                  <a:srgbClr val="17324D"/>
                </a:solidFill>
                <a:latin typeface="DejaVu Sans"/>
              </a:defRPr>
            </a:pPr>
            <a:r>
              <a:t>updates or overfitting.</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The score is no longer automatically</a:t>
            </a:r>
          </a:p>
          <a:p>
            <a:pPr>
              <a:lnSpc>
                <a:spcPct val="123000"/>
              </a:lnSpc>
              <a:spcAft>
                <a:spcPts val="0"/>
              </a:spcAft>
              <a:defRPr sz="2100" b="0">
                <a:solidFill>
                  <a:srgbClr val="17324D"/>
                </a:solidFill>
                <a:latin typeface="DejaVu Sans"/>
              </a:defRPr>
            </a:pPr>
            <a:r>
              <a:t>a natural detection probability.</a:t>
            </a:r>
          </a:p>
        </p:txBody>
      </p:sp>
      <p:sp>
        <p:nvSpPr>
          <p:cNvPr id="12" name="Rectangle 11"/>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Weighting changes importance; it cannot add missing information.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Focal loss can focus on ambiguity as well as signal</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10</a:t>
            </a:r>
          </a:p>
        </p:txBody>
      </p:sp>
      <p:sp>
        <p:nvSpPr>
          <p:cNvPr id="6" name="Rectangle 5"/>
          <p:cNvSpPr/>
          <p:nvPr/>
        </p:nvSpPr>
        <p:spPr>
          <a:xfrm>
            <a:off x="594360" y="1737360"/>
            <a:ext cx="5349240" cy="347472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92024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Useful when…</a:t>
            </a:r>
          </a:p>
        </p:txBody>
      </p:sp>
      <p:sp>
        <p:nvSpPr>
          <p:cNvPr id="8" name="TextBox 7"/>
          <p:cNvSpPr txBox="1"/>
          <p:nvPr/>
        </p:nvSpPr>
        <p:spPr>
          <a:xfrm>
            <a:off x="795528" y="2651760"/>
            <a:ext cx="4946903" cy="242316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Many easy negatives consume</a:t>
            </a:r>
          </a:p>
          <a:p>
            <a:pPr>
              <a:lnSpc>
                <a:spcPct val="123000"/>
              </a:lnSpc>
              <a:spcAft>
                <a:spcPts val="0"/>
              </a:spcAft>
              <a:defRPr sz="2100" b="0">
                <a:solidFill>
                  <a:srgbClr val="17324D"/>
                </a:solidFill>
                <a:latin typeface="DejaVu Sans"/>
              </a:defRPr>
            </a:pPr>
            <a:r>
              <a:t>training attention.</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Reducing their influence makes</a:t>
            </a:r>
          </a:p>
          <a:p>
            <a:pPr>
              <a:lnSpc>
                <a:spcPct val="123000"/>
              </a:lnSpc>
              <a:spcAft>
                <a:spcPts val="0"/>
              </a:spcAft>
              <a:defRPr sz="2100" b="0">
                <a:solidFill>
                  <a:srgbClr val="17324D"/>
                </a:solidFill>
                <a:latin typeface="DejaVu Sans"/>
              </a:defRPr>
            </a:pPr>
            <a:r>
              <a:t>harder examples matter more.</a:t>
            </a:r>
          </a:p>
        </p:txBody>
      </p:sp>
      <p:sp>
        <p:nvSpPr>
          <p:cNvPr id="9" name="Rectangle 8"/>
          <p:cNvSpPr/>
          <p:nvPr/>
        </p:nvSpPr>
        <p:spPr>
          <a:xfrm>
            <a:off x="6217920" y="1737360"/>
            <a:ext cx="5349240" cy="347472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920240"/>
            <a:ext cx="4946903"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Can fail when…</a:t>
            </a:r>
          </a:p>
        </p:txBody>
      </p:sp>
      <p:sp>
        <p:nvSpPr>
          <p:cNvPr id="11" name="TextBox 10"/>
          <p:cNvSpPr txBox="1"/>
          <p:nvPr/>
        </p:nvSpPr>
        <p:spPr>
          <a:xfrm>
            <a:off x="6419088" y="2651760"/>
            <a:ext cx="4946903" cy="242316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“Hard” means noisy or intrinsically</a:t>
            </a:r>
          </a:p>
          <a:p>
            <a:pPr>
              <a:lnSpc>
                <a:spcPct val="123000"/>
              </a:lnSpc>
              <a:spcAft>
                <a:spcPts val="0"/>
              </a:spcAft>
              <a:defRPr sz="2100" b="0">
                <a:solidFill>
                  <a:srgbClr val="17324D"/>
                </a:solidFill>
                <a:latin typeface="DejaVu Sans"/>
              </a:defRPr>
            </a:pPr>
            <a:r>
              <a:t>unpredictable.</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The model spends capacity on</a:t>
            </a:r>
          </a:p>
          <a:p>
            <a:pPr>
              <a:lnSpc>
                <a:spcPct val="123000"/>
              </a:lnSpc>
              <a:spcAft>
                <a:spcPts val="0"/>
              </a:spcAft>
              <a:defRPr sz="2100" b="0">
                <a:solidFill>
                  <a:srgbClr val="17324D"/>
                </a:solidFill>
                <a:latin typeface="DejaVu Sans"/>
              </a:defRPr>
            </a:pPr>
            <a:r>
              <a:t>examples with little learnable signal.</a:t>
            </a:r>
          </a:p>
        </p:txBody>
      </p:sp>
      <p:sp>
        <p:nvSpPr>
          <p:cNvPr id="12" name="TextBox 11"/>
          <p:cNvSpPr txBox="1"/>
          <p:nvPr/>
        </p:nvSpPr>
        <p:spPr>
          <a:xfrm>
            <a:off x="777240" y="5349240"/>
            <a:ext cx="10607040" cy="274320"/>
          </a:xfrm>
          <a:prstGeom prst="rect">
            <a:avLst/>
          </a:prstGeom>
          <a:noFill/>
        </p:spPr>
        <p:txBody>
          <a:bodyPr wrap="none" lIns="0" rIns="0" tIns="0" bIns="0">
            <a:spAutoFit/>
          </a:bodyPr>
          <a:lstStyle/>
          <a:p>
            <a:pPr>
              <a:lnSpc>
                <a:spcPct val="123000"/>
              </a:lnSpc>
              <a:spcAft>
                <a:spcPts val="0"/>
              </a:spcAft>
              <a:defRPr sz="1300" b="0">
                <a:solidFill>
                  <a:srgbClr val="576675"/>
                </a:solidFill>
                <a:latin typeface="DejaVu Sans"/>
              </a:defRPr>
            </a:pPr>
            <a:r>
              <a:t>Source: Lin et al. (2017). Optical-map implications are hypotheses to test.</a:t>
            </a:r>
          </a:p>
        </p:txBody>
      </p:sp>
      <p:sp>
        <p:nvSpPr>
          <p:cNvPr id="13" name="Rectangle 12"/>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A different loss cannot turn random outcomes into predictable events.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Mixup adds interpolation — not independent</a:t>
            </a:r>
          </a:p>
          <a:p>
            <a:pPr>
              <a:lnSpc>
                <a:spcPct val="123000"/>
              </a:lnSpc>
              <a:spcAft>
                <a:spcPts val="0"/>
              </a:spcAft>
              <a:defRPr sz="2900" b="1">
                <a:solidFill>
                  <a:srgbClr val="17324D"/>
                </a:solidFill>
                <a:latin typeface="DejaVu Sans"/>
              </a:defRPr>
            </a:pPr>
            <a:r>
              <a:t>detections</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11</a:t>
            </a:r>
          </a:p>
        </p:txBody>
      </p:sp>
      <p:sp>
        <p:nvSpPr>
          <p:cNvPr id="6" name="TextBox 5"/>
          <p:cNvSpPr txBox="1"/>
          <p:nvPr/>
        </p:nvSpPr>
        <p:spPr>
          <a:xfrm>
            <a:off x="731520" y="1645920"/>
            <a:ext cx="10789920" cy="640080"/>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Positive (label 1) + negative (label 0) → synthetic event (label λ)</a:t>
            </a:r>
          </a:p>
        </p:txBody>
      </p:sp>
      <p:sp>
        <p:nvSpPr>
          <p:cNvPr id="7" name="Rectangle 6"/>
          <p:cNvSpPr/>
          <p:nvPr/>
        </p:nvSpPr>
        <p:spPr>
          <a:xfrm>
            <a:off x="594360" y="2560320"/>
            <a:ext cx="5349240" cy="26517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74320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Why it can help</a:t>
            </a:r>
          </a:p>
        </p:txBody>
      </p:sp>
      <p:sp>
        <p:nvSpPr>
          <p:cNvPr id="9" name="TextBox 8"/>
          <p:cNvSpPr txBox="1"/>
          <p:nvPr/>
        </p:nvSpPr>
        <p:spPr>
          <a:xfrm>
            <a:off x="795528" y="3474720"/>
            <a:ext cx="4946903" cy="16002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Smoother predictions between</a:t>
            </a:r>
          </a:p>
          <a:p>
            <a:pPr>
              <a:lnSpc>
                <a:spcPct val="123000"/>
              </a:lnSpc>
              <a:spcAft>
                <a:spcPts val="0"/>
              </a:spcAft>
              <a:defRPr sz="2100" b="0">
                <a:solidFill>
                  <a:srgbClr val="17324D"/>
                </a:solidFill>
                <a:latin typeface="DejaVu Sans"/>
              </a:defRPr>
            </a:pPr>
            <a:r>
              <a:t>examples; less memorization of</a:t>
            </a:r>
          </a:p>
          <a:p>
            <a:pPr>
              <a:lnSpc>
                <a:spcPct val="123000"/>
              </a:lnSpc>
              <a:spcAft>
                <a:spcPts val="0"/>
              </a:spcAft>
              <a:defRPr sz="2100" b="0">
                <a:solidFill>
                  <a:srgbClr val="17324D"/>
                </a:solidFill>
                <a:latin typeface="DejaVu Sans"/>
              </a:defRPr>
            </a:pPr>
            <a:r>
              <a:t>individual training events.</a:t>
            </a:r>
          </a:p>
        </p:txBody>
      </p:sp>
      <p:sp>
        <p:nvSpPr>
          <p:cNvPr id="10" name="Rectangle 9"/>
          <p:cNvSpPr/>
          <p:nvPr/>
        </p:nvSpPr>
        <p:spPr>
          <a:xfrm>
            <a:off x="6217920" y="2560320"/>
            <a:ext cx="5349240" cy="26517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743200"/>
            <a:ext cx="4946903"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Why it can fail</a:t>
            </a:r>
          </a:p>
        </p:txBody>
      </p:sp>
      <p:sp>
        <p:nvSpPr>
          <p:cNvPr id="12" name="TextBox 11"/>
          <p:cNvSpPr txBox="1"/>
          <p:nvPr/>
        </p:nvSpPr>
        <p:spPr>
          <a:xfrm>
            <a:off x="6419088" y="3474720"/>
            <a:ext cx="4946903" cy="16002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Interpolated features may not</a:t>
            </a:r>
          </a:p>
          <a:p>
            <a:pPr>
              <a:lnSpc>
                <a:spcPct val="123000"/>
              </a:lnSpc>
              <a:spcAft>
                <a:spcPts val="0"/>
              </a:spcAft>
              <a:defRPr sz="2100" b="0">
                <a:solidFill>
                  <a:srgbClr val="17324D"/>
                </a:solidFill>
                <a:latin typeface="DejaVu Sans"/>
              </a:defRPr>
            </a:pPr>
            <a:r>
              <a:t>represent real events. Forced</a:t>
            </a:r>
          </a:p>
          <a:p>
            <a:pPr>
              <a:lnSpc>
                <a:spcPct val="123000"/>
              </a:lnSpc>
              <a:spcAft>
                <a:spcPts val="0"/>
              </a:spcAft>
              <a:defRPr sz="2100" b="0">
                <a:solidFill>
                  <a:srgbClr val="17324D"/>
                </a:solidFill>
                <a:latin typeface="DejaVu Sans"/>
              </a:defRPr>
            </a:pPr>
            <a:r>
              <a:t>positive–negative pairing changes</a:t>
            </a:r>
          </a:p>
          <a:p>
            <a:pPr>
              <a:lnSpc>
                <a:spcPct val="123000"/>
              </a:lnSpc>
              <a:spcAft>
                <a:spcPts val="0"/>
              </a:spcAft>
              <a:defRPr sz="2100" b="0">
                <a:solidFill>
                  <a:srgbClr val="17324D"/>
                </a:solidFill>
                <a:latin typeface="DejaVu Sans"/>
              </a:defRPr>
            </a:pPr>
            <a:r>
              <a:t>the label distribution.</a:t>
            </a:r>
          </a:p>
        </p:txBody>
      </p:sp>
      <p:sp>
        <p:nvSpPr>
          <p:cNvPr id="13" name="TextBox 12"/>
          <p:cNvSpPr txBox="1"/>
          <p:nvPr/>
        </p:nvSpPr>
        <p:spPr>
          <a:xfrm>
            <a:off x="777240" y="5303520"/>
            <a:ext cx="10607040" cy="320040"/>
          </a:xfrm>
          <a:prstGeom prst="rect">
            <a:avLst/>
          </a:prstGeom>
          <a:noFill/>
        </p:spPr>
        <p:txBody>
          <a:bodyPr wrap="none" lIns="0" rIns="0" tIns="0" bIns="0">
            <a:spAutoFit/>
          </a:bodyPr>
          <a:lstStyle/>
          <a:p>
            <a:pPr>
              <a:lnSpc>
                <a:spcPct val="123000"/>
              </a:lnSpc>
              <a:spcAft>
                <a:spcPts val="0"/>
              </a:spcAft>
              <a:defRPr sz="1800" b="0">
                <a:solidFill>
                  <a:srgbClr val="17324D"/>
                </a:solidFill>
                <a:latin typeface="DejaVu Sans"/>
              </a:defRPr>
            </a:pPr>
            <a:r>
              <a:t>If every pair is +/− and mean λ = 0.5, the synthetic mean label is 50%.</a:t>
            </a:r>
          </a:p>
        </p:txBody>
      </p:sp>
      <p:sp>
        <p:nvSpPr>
          <p:cNvPr id="14" name="Rectangle 13"/>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Natural pairing preserves the mean in expectation, but rarely includes positives.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Some events may be impossible to classify reliably</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12</a:t>
            </a:r>
          </a:p>
        </p:txBody>
      </p:sp>
      <p:sp>
        <p:nvSpPr>
          <p:cNvPr id="6" name="Rectangle 5"/>
          <p:cNvSpPr/>
          <p:nvPr/>
        </p:nvSpPr>
        <p:spPr>
          <a:xfrm>
            <a:off x="594360" y="1737360"/>
            <a:ext cx="5349240" cy="35204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920240"/>
            <a:ext cx="4946903"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Learnable structure</a:t>
            </a:r>
          </a:p>
        </p:txBody>
      </p:sp>
      <p:sp>
        <p:nvSpPr>
          <p:cNvPr id="8" name="TextBox 7"/>
          <p:cNvSpPr txBox="1"/>
          <p:nvPr/>
        </p:nvSpPr>
        <p:spPr>
          <a:xfrm>
            <a:off x="795528" y="2651760"/>
            <a:ext cx="4946903" cy="246888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Position or event features change</a:t>
            </a:r>
          </a:p>
          <a:p>
            <a:pPr>
              <a:lnSpc>
                <a:spcPct val="123000"/>
              </a:lnSpc>
              <a:spcAft>
                <a:spcPts val="0"/>
              </a:spcAft>
              <a:defRPr sz="2100" b="0">
                <a:solidFill>
                  <a:srgbClr val="17324D"/>
                </a:solidFill>
                <a:latin typeface="DejaVu Sans"/>
              </a:defRPr>
            </a:pPr>
            <a:r>
              <a:t>the chance of detection.</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The network can learn which events</a:t>
            </a:r>
          </a:p>
          <a:p>
            <a:pPr>
              <a:lnSpc>
                <a:spcPct val="123000"/>
              </a:lnSpc>
              <a:spcAft>
                <a:spcPts val="0"/>
              </a:spcAft>
              <a:defRPr sz="2100" b="0">
                <a:solidFill>
                  <a:srgbClr val="17324D"/>
                </a:solidFill>
                <a:latin typeface="DejaVu Sans"/>
              </a:defRPr>
            </a:pPr>
            <a:r>
              <a:t>are more likely.</a:t>
            </a:r>
          </a:p>
        </p:txBody>
      </p:sp>
      <p:sp>
        <p:nvSpPr>
          <p:cNvPr id="9" name="Rectangle 8"/>
          <p:cNvSpPr/>
          <p:nvPr/>
        </p:nvSpPr>
        <p:spPr>
          <a:xfrm>
            <a:off x="6217920" y="1737360"/>
            <a:ext cx="5349240" cy="352044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920240"/>
            <a:ext cx="4946903" cy="566928"/>
          </a:xfrm>
          <a:prstGeom prst="rect">
            <a:avLst/>
          </a:prstGeom>
          <a:noFill/>
        </p:spPr>
        <p:txBody>
          <a:bodyPr wrap="none" lIns="0" rIns="0" tIns="0" bIns="0">
            <a:spAutoFit/>
          </a:bodyPr>
          <a:lstStyle/>
          <a:p>
            <a:pPr>
              <a:lnSpc>
                <a:spcPct val="123000"/>
              </a:lnSpc>
              <a:spcAft>
                <a:spcPts val="0"/>
              </a:spcAft>
              <a:defRPr sz="2300" b="1">
                <a:solidFill>
                  <a:srgbClr val="D46C37"/>
                </a:solidFill>
                <a:latin typeface="DejaVu Sans"/>
              </a:defRPr>
            </a:pPr>
            <a:r>
              <a:t>Unobserved randomness</a:t>
            </a:r>
          </a:p>
        </p:txBody>
      </p:sp>
      <p:sp>
        <p:nvSpPr>
          <p:cNvPr id="11" name="TextBox 10"/>
          <p:cNvSpPr txBox="1"/>
          <p:nvPr/>
        </p:nvSpPr>
        <p:spPr>
          <a:xfrm>
            <a:off x="6419088" y="2651760"/>
            <a:ext cx="4946903" cy="246888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Similar recorded inputs can still</a:t>
            </a:r>
          </a:p>
          <a:p>
            <a:pPr>
              <a:lnSpc>
                <a:spcPct val="123000"/>
              </a:lnSpc>
              <a:spcAft>
                <a:spcPts val="0"/>
              </a:spcAft>
              <a:defRPr sz="2100" b="0">
                <a:solidFill>
                  <a:srgbClr val="17324D"/>
                </a:solidFill>
                <a:latin typeface="DejaVu Sans"/>
              </a:defRPr>
            </a:pPr>
            <a:r>
              <a:t>produce different outcomes.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No loss or sampler can reveal</a:t>
            </a:r>
          </a:p>
          <a:p>
            <a:pPr>
              <a:lnSpc>
                <a:spcPct val="123000"/>
              </a:lnSpc>
              <a:spcAft>
                <a:spcPts val="0"/>
              </a:spcAft>
              <a:defRPr sz="2100" b="0">
                <a:solidFill>
                  <a:srgbClr val="17324D"/>
                </a:solidFill>
                <a:latin typeface="DejaVu Sans"/>
              </a:defRPr>
            </a:pPr>
            <a:r>
              <a:t>information absent from the inputs.</a:t>
            </a:r>
          </a:p>
        </p:txBody>
      </p:sp>
      <p:sp>
        <p:nvSpPr>
          <p:cNvPr id="12" name="Rectangle 11"/>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Accurate probabilities can be achievable even when individual hit prediction is weak.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For the optical map, protect the population mean</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13</a:t>
            </a:r>
          </a:p>
        </p:txBody>
      </p:sp>
      <p:sp>
        <p:nvSpPr>
          <p:cNvPr id="6" name="Rectangle 5"/>
          <p:cNvSpPr/>
          <p:nvPr/>
        </p:nvSpPr>
        <p:spPr>
          <a:xfrm>
            <a:off x="594360" y="1737360"/>
            <a:ext cx="3520440" cy="361188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920240"/>
            <a:ext cx="3118104"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Training</a:t>
            </a:r>
          </a:p>
        </p:txBody>
      </p:sp>
      <p:sp>
        <p:nvSpPr>
          <p:cNvPr id="8" name="TextBox 7"/>
          <p:cNvSpPr txBox="1"/>
          <p:nvPr/>
        </p:nvSpPr>
        <p:spPr>
          <a:xfrm>
            <a:off x="795528" y="2651760"/>
            <a:ext cx="3118104" cy="2560320"/>
          </a:xfrm>
          <a:prstGeom prst="rect">
            <a:avLst/>
          </a:prstGeom>
          <a:noFill/>
        </p:spPr>
        <p:txBody>
          <a:bodyPr wrap="none" lIns="0" rIns="0" tIns="0" bIns="0">
            <a:spAutoFit/>
          </a:bodyPr>
          <a:lstStyle/>
          <a:p>
            <a:pPr>
              <a:lnSpc>
                <a:spcPct val="123000"/>
              </a:lnSpc>
              <a:spcAft>
                <a:spcPts val="0"/>
              </a:spcAft>
              <a:defRPr sz="1900" b="0">
                <a:solidFill>
                  <a:srgbClr val="17324D"/>
                </a:solidFill>
                <a:latin typeface="DejaVu Sans"/>
              </a:defRPr>
            </a:pPr>
            <a:r>
              <a:t>Improve exposure to</a:t>
            </a:r>
          </a:p>
          <a:p>
            <a:pPr>
              <a:lnSpc>
                <a:spcPct val="123000"/>
              </a:lnSpc>
              <a:spcAft>
                <a:spcPts val="0"/>
              </a:spcAft>
              <a:defRPr sz="1900" b="0">
                <a:solidFill>
                  <a:srgbClr val="17324D"/>
                </a:solidFill>
                <a:latin typeface="DejaVu Sans"/>
              </a:defRPr>
            </a:pPr>
            <a:r>
              <a:t>positives.</a:t>
            </a:r>
          </a:p>
          <a:p>
            <a:pPr>
              <a:lnSpc>
                <a:spcPct val="123000"/>
              </a:lnSpc>
              <a:spcAft>
                <a:spcPts val="0"/>
              </a:spcAft>
              <a:defRPr sz="1900" b="0">
                <a:solidFill>
                  <a:srgbClr val="17324D"/>
                </a:solidFill>
                <a:latin typeface="DejaVu Sans"/>
              </a:defRPr>
            </a:pPr>
          </a:p>
          <a:p>
            <a:pPr>
              <a:lnSpc>
                <a:spcPct val="123000"/>
              </a:lnSpc>
              <a:spcAft>
                <a:spcPts val="0"/>
              </a:spcAft>
              <a:defRPr sz="1900" b="0">
                <a:solidFill>
                  <a:srgbClr val="17324D"/>
                </a:solidFill>
                <a:latin typeface="DejaVu Sans"/>
              </a:defRPr>
            </a:pPr>
            <a:r>
              <a:t>Retain a loss on naturally</a:t>
            </a:r>
          </a:p>
          <a:p>
            <a:pPr>
              <a:lnSpc>
                <a:spcPct val="123000"/>
              </a:lnSpc>
              <a:spcAft>
                <a:spcPts val="0"/>
              </a:spcAft>
              <a:defRPr sz="1900" b="0">
                <a:solidFill>
                  <a:srgbClr val="17324D"/>
                </a:solidFill>
                <a:latin typeface="DejaVu Sans"/>
              </a:defRPr>
            </a:pPr>
            <a:r>
              <a:t>sampled real events.</a:t>
            </a:r>
          </a:p>
          <a:p>
            <a:pPr>
              <a:lnSpc>
                <a:spcPct val="123000"/>
              </a:lnSpc>
              <a:spcAft>
                <a:spcPts val="0"/>
              </a:spcAft>
              <a:defRPr sz="1900" b="0">
                <a:solidFill>
                  <a:srgbClr val="17324D"/>
                </a:solidFill>
                <a:latin typeface="DejaVu Sans"/>
              </a:defRPr>
            </a:pPr>
          </a:p>
          <a:p>
            <a:pPr>
              <a:lnSpc>
                <a:spcPct val="123000"/>
              </a:lnSpc>
              <a:spcAft>
                <a:spcPts val="0"/>
              </a:spcAft>
              <a:defRPr sz="1900" b="0">
                <a:solidFill>
                  <a:srgbClr val="17324D"/>
                </a:solidFill>
                <a:latin typeface="DejaVu Sans"/>
              </a:defRPr>
            </a:pPr>
            <a:r>
              <a:t>Tune augmentation</a:t>
            </a:r>
          </a:p>
          <a:p>
            <a:pPr>
              <a:lnSpc>
                <a:spcPct val="123000"/>
              </a:lnSpc>
              <a:spcAft>
                <a:spcPts val="0"/>
              </a:spcAft>
              <a:defRPr sz="1900" b="0">
                <a:solidFill>
                  <a:srgbClr val="17324D"/>
                </a:solidFill>
                <a:latin typeface="DejaVu Sans"/>
              </a:defRPr>
            </a:pPr>
            <a:r>
              <a:t>strength.</a:t>
            </a:r>
          </a:p>
        </p:txBody>
      </p:sp>
      <p:sp>
        <p:nvSpPr>
          <p:cNvPr id="9" name="Rectangle 8"/>
          <p:cNvSpPr/>
          <p:nvPr/>
        </p:nvSpPr>
        <p:spPr>
          <a:xfrm>
            <a:off x="4343400" y="1737360"/>
            <a:ext cx="3520440" cy="361188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920240"/>
            <a:ext cx="3118104"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Validation</a:t>
            </a:r>
          </a:p>
        </p:txBody>
      </p:sp>
      <p:sp>
        <p:nvSpPr>
          <p:cNvPr id="11" name="TextBox 10"/>
          <p:cNvSpPr txBox="1"/>
          <p:nvPr/>
        </p:nvSpPr>
        <p:spPr>
          <a:xfrm>
            <a:off x="4544568" y="2651760"/>
            <a:ext cx="3118104" cy="256032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Use the natural class</a:t>
            </a:r>
          </a:p>
          <a:p>
            <a:pPr>
              <a:lnSpc>
                <a:spcPct val="123000"/>
              </a:lnSpc>
              <a:spcAft>
                <a:spcPts val="0"/>
              </a:spcAft>
              <a:defRPr sz="2100" b="0">
                <a:solidFill>
                  <a:srgbClr val="17324D"/>
                </a:solidFill>
                <a:latin typeface="DejaVu Sans"/>
              </a:defRPr>
            </a:pPr>
            <a:r>
              <a:t>balance.</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Hold out whole voxels.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Compare several</a:t>
            </a:r>
          </a:p>
          <a:p>
            <a:pPr>
              <a:lnSpc>
                <a:spcPct val="123000"/>
              </a:lnSpc>
              <a:spcAft>
                <a:spcPts val="0"/>
              </a:spcAft>
              <a:defRPr sz="2100" b="0">
                <a:solidFill>
                  <a:srgbClr val="17324D"/>
                </a:solidFill>
                <a:latin typeface="DejaVu Sans"/>
              </a:defRPr>
            </a:pPr>
            <a:r>
              <a:t>seeds.</a:t>
            </a:r>
          </a:p>
        </p:txBody>
      </p:sp>
      <p:sp>
        <p:nvSpPr>
          <p:cNvPr id="12" name="Rectangle 11"/>
          <p:cNvSpPr/>
          <p:nvPr/>
        </p:nvSpPr>
        <p:spPr>
          <a:xfrm>
            <a:off x="8092440" y="1737360"/>
            <a:ext cx="3520440" cy="361188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1920240"/>
            <a:ext cx="3118104" cy="566928"/>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Measure both</a:t>
            </a:r>
          </a:p>
        </p:txBody>
      </p:sp>
      <p:sp>
        <p:nvSpPr>
          <p:cNvPr id="14" name="TextBox 13"/>
          <p:cNvSpPr txBox="1"/>
          <p:nvPr/>
        </p:nvSpPr>
        <p:spPr>
          <a:xfrm>
            <a:off x="8293608" y="2651760"/>
            <a:ext cx="3118104" cy="256032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Event ranking:</a:t>
            </a:r>
          </a:p>
          <a:p>
            <a:pPr>
              <a:lnSpc>
                <a:spcPct val="123000"/>
              </a:lnSpc>
              <a:spcAft>
                <a:spcPts val="0"/>
              </a:spcAft>
              <a:defRPr sz="2100" b="0">
                <a:solidFill>
                  <a:srgbClr val="17324D"/>
                </a:solidFill>
                <a:latin typeface="DejaVu Sans"/>
              </a:defRPr>
            </a:pPr>
            <a:r>
              <a:t>precision–recall / AP</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Population map:</a:t>
            </a:r>
          </a:p>
          <a:p>
            <a:pPr>
              <a:lnSpc>
                <a:spcPct val="123000"/>
              </a:lnSpc>
              <a:spcAft>
                <a:spcPts val="0"/>
              </a:spcAft>
              <a:defRPr sz="2100" b="0">
                <a:solidFill>
                  <a:srgbClr val="17324D"/>
                </a:solidFill>
                <a:latin typeface="DejaVu Sans"/>
              </a:defRPr>
            </a:pPr>
            <a:r>
              <a:t>mean bias, MAE and</a:t>
            </a:r>
          </a:p>
          <a:p>
            <a:pPr>
              <a:lnSpc>
                <a:spcPct val="123000"/>
              </a:lnSpc>
              <a:spcAft>
                <a:spcPts val="0"/>
              </a:spcAft>
              <a:defRPr sz="2100" b="0">
                <a:solidFill>
                  <a:srgbClr val="17324D"/>
                </a:solidFill>
                <a:latin typeface="DejaVu Sans"/>
              </a:defRPr>
            </a:pPr>
            <a:r>
              <a:t>spatial trend</a:t>
            </a:r>
          </a:p>
        </p:txBody>
      </p:sp>
      <p:sp>
        <p:nvSpPr>
          <p:cNvPr id="15" name="Rectangle 14"/>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Success means useful ranking AND trustworthy rates; accuracy alone proves neither.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RARE EVENTS • OPTICAL MAP</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What would most directly improve the evidence?</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14</a:t>
            </a:r>
          </a:p>
        </p:txBody>
      </p:sp>
      <p:sp>
        <p:nvSpPr>
          <p:cNvPr id="6" name="TextBox 5"/>
          <p:cNvSpPr txBox="1"/>
          <p:nvPr/>
        </p:nvSpPr>
        <p:spPr>
          <a:xfrm>
            <a:off x="731520" y="1691640"/>
            <a:ext cx="10698480" cy="548640"/>
          </a:xfrm>
          <a:prstGeom prst="rect">
            <a:avLst/>
          </a:prstGeom>
          <a:noFill/>
        </p:spPr>
        <p:txBody>
          <a:bodyPr wrap="none" lIns="0" rIns="0" tIns="0" bIns="0">
            <a:spAutoFit/>
          </a:bodyPr>
          <a:lstStyle/>
          <a:p>
            <a:pPr>
              <a:lnSpc>
                <a:spcPct val="123000"/>
              </a:lnSpc>
              <a:spcAft>
                <a:spcPts val="0"/>
              </a:spcAft>
              <a:defRPr sz="2500" b="0">
                <a:solidFill>
                  <a:srgbClr val="17324D"/>
                </a:solidFill>
                <a:latin typeface="DejaVu Sans"/>
              </a:defRPr>
            </a:pPr>
            <a:r>
              <a:t>At a true detection probability of 0.05%:</a:t>
            </a:r>
          </a:p>
        </p:txBody>
      </p:sp>
      <p:sp>
        <p:nvSpPr>
          <p:cNvPr id="7" name="Rectangle 6"/>
          <p:cNvSpPr/>
          <p:nvPr/>
        </p:nvSpPr>
        <p:spPr>
          <a:xfrm>
            <a:off x="640080" y="2423160"/>
            <a:ext cx="3246120" cy="26517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651760"/>
            <a:ext cx="2880360" cy="640080"/>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1,500 primaries</a:t>
            </a:r>
          </a:p>
        </p:txBody>
      </p:sp>
      <p:sp>
        <p:nvSpPr>
          <p:cNvPr id="9" name="TextBox 8"/>
          <p:cNvSpPr txBox="1"/>
          <p:nvPr/>
        </p:nvSpPr>
        <p:spPr>
          <a:xfrm>
            <a:off x="822959" y="3474720"/>
            <a:ext cx="2880360" cy="1371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0.75 expected hits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47.2% chance of</a:t>
            </a:r>
          </a:p>
          <a:p>
            <a:pPr>
              <a:lnSpc>
                <a:spcPct val="123000"/>
              </a:lnSpc>
              <a:spcAft>
                <a:spcPts val="0"/>
              </a:spcAft>
              <a:defRPr sz="2100" b="0">
                <a:solidFill>
                  <a:srgbClr val="17324D"/>
                </a:solidFill>
                <a:latin typeface="DejaVu Sans"/>
              </a:defRPr>
            </a:pPr>
            <a:r>
              <a:t>zero hits</a:t>
            </a:r>
          </a:p>
        </p:txBody>
      </p:sp>
      <p:sp>
        <p:nvSpPr>
          <p:cNvPr id="10" name="Rectangle 9"/>
          <p:cNvSpPr/>
          <p:nvPr/>
        </p:nvSpPr>
        <p:spPr>
          <a:xfrm>
            <a:off x="4480560" y="2423160"/>
            <a:ext cx="3246120" cy="26517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651760"/>
            <a:ext cx="2880360" cy="640080"/>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5,000 primaries</a:t>
            </a:r>
          </a:p>
        </p:txBody>
      </p:sp>
      <p:sp>
        <p:nvSpPr>
          <p:cNvPr id="12" name="TextBox 11"/>
          <p:cNvSpPr txBox="1"/>
          <p:nvPr/>
        </p:nvSpPr>
        <p:spPr>
          <a:xfrm>
            <a:off x="4663440" y="3474720"/>
            <a:ext cx="2880360" cy="1371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2.5 expected hits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8.2% chance of zero</a:t>
            </a:r>
          </a:p>
          <a:p>
            <a:pPr>
              <a:lnSpc>
                <a:spcPct val="123000"/>
              </a:lnSpc>
              <a:spcAft>
                <a:spcPts val="0"/>
              </a:spcAft>
              <a:defRPr sz="2100" b="0">
                <a:solidFill>
                  <a:srgbClr val="17324D"/>
                </a:solidFill>
                <a:latin typeface="DejaVu Sans"/>
              </a:defRPr>
            </a:pPr>
            <a:r>
              <a:t>hits</a:t>
            </a:r>
          </a:p>
        </p:txBody>
      </p:sp>
      <p:sp>
        <p:nvSpPr>
          <p:cNvPr id="13" name="Rectangle 12"/>
          <p:cNvSpPr/>
          <p:nvPr/>
        </p:nvSpPr>
        <p:spPr>
          <a:xfrm>
            <a:off x="8321040" y="2423160"/>
            <a:ext cx="3246120" cy="265176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19" y="2651760"/>
            <a:ext cx="2880360" cy="640080"/>
          </a:xfrm>
          <a:prstGeom prst="rect">
            <a:avLst/>
          </a:prstGeom>
          <a:noFill/>
        </p:spPr>
        <p:txBody>
          <a:bodyPr wrap="none" lIns="0" rIns="0" tIns="0" bIns="0">
            <a:spAutoFit/>
          </a:bodyPr>
          <a:lstStyle/>
          <a:p>
            <a:pPr>
              <a:lnSpc>
                <a:spcPct val="123000"/>
              </a:lnSpc>
              <a:spcAft>
                <a:spcPts val="0"/>
              </a:spcAft>
              <a:defRPr sz="2300" b="1">
                <a:solidFill>
                  <a:srgbClr val="008B8B"/>
                </a:solidFill>
                <a:latin typeface="DejaVu Sans"/>
              </a:defRPr>
            </a:pPr>
            <a:r>
              <a:t>20,000 primaries</a:t>
            </a:r>
          </a:p>
        </p:txBody>
      </p:sp>
      <p:sp>
        <p:nvSpPr>
          <p:cNvPr id="15" name="TextBox 14"/>
          <p:cNvSpPr txBox="1"/>
          <p:nvPr/>
        </p:nvSpPr>
        <p:spPr>
          <a:xfrm>
            <a:off x="8503919" y="3474720"/>
            <a:ext cx="2880360" cy="1371600"/>
          </a:xfrm>
          <a:prstGeom prst="rect">
            <a:avLst/>
          </a:prstGeom>
          <a:noFill/>
        </p:spPr>
        <p:txBody>
          <a:bodyPr wrap="none" lIns="0" rIns="0" tIns="0" bIns="0">
            <a:spAutoFit/>
          </a:bodyPr>
          <a:lstStyle/>
          <a:p>
            <a:pPr>
              <a:lnSpc>
                <a:spcPct val="123000"/>
              </a:lnSpc>
              <a:spcAft>
                <a:spcPts val="0"/>
              </a:spcAft>
              <a:defRPr sz="2100" b="0">
                <a:solidFill>
                  <a:srgbClr val="17324D"/>
                </a:solidFill>
                <a:latin typeface="DejaVu Sans"/>
              </a:defRPr>
            </a:pPr>
            <a:r>
              <a:t>10 expected hits</a:t>
            </a:r>
          </a:p>
          <a:p>
            <a:pPr>
              <a:lnSpc>
                <a:spcPct val="123000"/>
              </a:lnSpc>
              <a:spcAft>
                <a:spcPts val="0"/>
              </a:spcAft>
              <a:defRPr sz="2100" b="0">
                <a:solidFill>
                  <a:srgbClr val="17324D"/>
                </a:solidFill>
                <a:latin typeface="DejaVu Sans"/>
              </a:defRPr>
            </a:pPr>
          </a:p>
          <a:p>
            <a:pPr>
              <a:lnSpc>
                <a:spcPct val="123000"/>
              </a:lnSpc>
              <a:spcAft>
                <a:spcPts val="0"/>
              </a:spcAft>
              <a:defRPr sz="2100" b="0">
                <a:solidFill>
                  <a:srgbClr val="17324D"/>
                </a:solidFill>
                <a:latin typeface="DejaVu Sans"/>
              </a:defRPr>
            </a:pPr>
            <a:r>
              <a:t>&lt;0.01% chance of</a:t>
            </a:r>
          </a:p>
          <a:p>
            <a:pPr>
              <a:lnSpc>
                <a:spcPct val="123000"/>
              </a:lnSpc>
              <a:spcAft>
                <a:spcPts val="0"/>
              </a:spcAft>
              <a:defRPr sz="2100" b="0">
                <a:solidFill>
                  <a:srgbClr val="17324D"/>
                </a:solidFill>
                <a:latin typeface="DejaVu Sans"/>
              </a:defRPr>
            </a:pPr>
            <a:r>
              <a:t>zero hits</a:t>
            </a:r>
          </a:p>
        </p:txBody>
      </p:sp>
      <p:sp>
        <p:nvSpPr>
          <p:cNvPr id="16" name="TextBox 15"/>
          <p:cNvSpPr txBox="1"/>
          <p:nvPr/>
        </p:nvSpPr>
        <p:spPr>
          <a:xfrm>
            <a:off x="777240" y="5257800"/>
            <a:ext cx="10789920" cy="365760"/>
          </a:xfrm>
          <a:prstGeom prst="rect">
            <a:avLst/>
          </a:prstGeom>
          <a:noFill/>
        </p:spPr>
        <p:txBody>
          <a:bodyPr wrap="none" lIns="0" rIns="0" tIns="0" bIns="0">
            <a:spAutoFit/>
          </a:bodyPr>
          <a:lstStyle/>
          <a:p>
            <a:pPr>
              <a:lnSpc>
                <a:spcPct val="123000"/>
              </a:lnSpc>
              <a:spcAft>
                <a:spcPts val="0"/>
              </a:spcAft>
              <a:defRPr sz="1900" b="0">
                <a:solidFill>
                  <a:srgbClr val="17324D"/>
                </a:solidFill>
                <a:latin typeface="DejaVu Sans"/>
              </a:defRPr>
            </a:pPr>
            <a:r>
              <a:t>More primaries reveal rare detections; more voxel locations reveal spatial structure.</a:t>
            </a:r>
          </a:p>
        </p:txBody>
      </p:sp>
      <p:sp>
        <p:nvSpPr>
          <p:cNvPr id="17" name="Rectangle 16"/>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Sampling tricks redistribute the evidence. Simulation supplies new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TECHNICAL APPENDIX</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Appendix: why weights and sampling bias</a:t>
            </a:r>
          </a:p>
          <a:p>
            <a:pPr>
              <a:lnSpc>
                <a:spcPct val="123000"/>
              </a:lnSpc>
              <a:spcAft>
                <a:spcPts val="0"/>
              </a:spcAft>
              <a:defRPr sz="2900" b="1">
                <a:solidFill>
                  <a:srgbClr val="17324D"/>
                </a:solidFill>
                <a:latin typeface="DejaVu Sans"/>
              </a:defRPr>
            </a:pPr>
            <a:r>
              <a:t>probabilities</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15</a:t>
            </a:r>
          </a:p>
        </p:txBody>
      </p:sp>
      <p:sp>
        <p:nvSpPr>
          <p:cNvPr id="6" name="TextBox 5"/>
          <p:cNvSpPr txBox="1"/>
          <p:nvPr/>
        </p:nvSpPr>
        <p:spPr>
          <a:xfrm>
            <a:off x="685800" y="1600200"/>
            <a:ext cx="10972800" cy="914400"/>
          </a:xfrm>
          <a:prstGeom prst="rect">
            <a:avLst/>
          </a:prstGeom>
          <a:noFill/>
        </p:spPr>
        <p:txBody>
          <a:bodyPr wrap="none" lIns="0" rIns="0" tIns="0" bIns="0">
            <a:spAutoFit/>
          </a:bodyPr>
          <a:lstStyle/>
          <a:p>
            <a:pPr>
              <a:lnSpc>
                <a:spcPct val="123000"/>
              </a:lnSpc>
              <a:spcAft>
                <a:spcPts val="0"/>
              </a:spcAft>
              <a:defRPr sz="2500" b="1">
                <a:solidFill>
                  <a:srgbClr val="008B8B"/>
                </a:solidFill>
                <a:latin typeface="DejaVu Sans"/>
              </a:defRPr>
            </a:pPr>
            <a:r>
              <a:t>Positive weight w changes the BCE optimum:</a:t>
            </a:r>
          </a:p>
          <a:p>
            <a:pPr>
              <a:lnSpc>
                <a:spcPct val="123000"/>
              </a:lnSpc>
              <a:spcAft>
                <a:spcPts val="0"/>
              </a:spcAft>
              <a:defRPr sz="2500" b="1">
                <a:solidFill>
                  <a:srgbClr val="008B8B"/>
                </a:solidFill>
                <a:latin typeface="DejaVu Sans"/>
              </a:defRPr>
            </a:pPr>
            <a:r>
              <a:t>q* = w p / (1 − p + w p)</a:t>
            </a:r>
          </a:p>
        </p:txBody>
      </p:sp>
      <p:sp>
        <p:nvSpPr>
          <p:cNvPr id="7" name="TextBox 6"/>
          <p:cNvSpPr txBox="1"/>
          <p:nvPr/>
        </p:nvSpPr>
        <p:spPr>
          <a:xfrm>
            <a:off x="685800" y="2788920"/>
            <a:ext cx="10972800" cy="914400"/>
          </a:xfrm>
          <a:prstGeom prst="rect">
            <a:avLst/>
          </a:prstGeom>
          <a:noFill/>
        </p:spPr>
        <p:txBody>
          <a:bodyPr wrap="none" lIns="0" rIns="0" tIns="0" bIns="0">
            <a:spAutoFit/>
          </a:bodyPr>
          <a:lstStyle/>
          <a:p>
            <a:pPr>
              <a:lnSpc>
                <a:spcPct val="123000"/>
              </a:lnSpc>
              <a:spcAft>
                <a:spcPts val="0"/>
              </a:spcAft>
              <a:defRPr sz="2200" b="0">
                <a:solidFill>
                  <a:srgbClr val="17324D"/>
                </a:solidFill>
                <a:latin typeface="DejaVu Sans"/>
              </a:defRPr>
            </a:pPr>
            <a:r>
              <a:t>At p = 0.05%: w = 100 gives q* ≈ 4.76%; w = 1,999 gives q* = 50%.</a:t>
            </a:r>
          </a:p>
        </p:txBody>
      </p:sp>
      <p:sp>
        <p:nvSpPr>
          <p:cNvPr id="8" name="TextBox 7"/>
          <p:cNvSpPr txBox="1"/>
          <p:nvPr/>
        </p:nvSpPr>
        <p:spPr>
          <a:xfrm>
            <a:off x="685800" y="3749039"/>
            <a:ext cx="10972800" cy="914400"/>
          </a:xfrm>
          <a:prstGeom prst="rect">
            <a:avLst/>
          </a:prstGeom>
          <a:noFill/>
        </p:spPr>
        <p:txBody>
          <a:bodyPr wrap="none" lIns="0" rIns="0" tIns="0" bIns="0">
            <a:spAutoFit/>
          </a:bodyPr>
          <a:lstStyle/>
          <a:p>
            <a:pPr>
              <a:lnSpc>
                <a:spcPct val="123000"/>
              </a:lnSpc>
              <a:spcAft>
                <a:spcPts val="0"/>
              </a:spcAft>
              <a:defRPr sz="2400" b="1">
                <a:solidFill>
                  <a:srgbClr val="008B8B"/>
                </a:solidFill>
                <a:latin typeface="DejaVu Sans"/>
              </a:defRPr>
            </a:pPr>
            <a:r>
              <a:t>Under pure class-dependent resampling:</a:t>
            </a:r>
          </a:p>
          <a:p>
            <a:pPr>
              <a:lnSpc>
                <a:spcPct val="123000"/>
              </a:lnSpc>
              <a:spcAft>
                <a:spcPts val="0"/>
              </a:spcAft>
              <a:defRPr sz="2400" b="1">
                <a:solidFill>
                  <a:srgbClr val="008B8B"/>
                </a:solidFill>
                <a:latin typeface="DejaVu Sans"/>
              </a:defRPr>
            </a:pPr>
            <a:r>
              <a:t>logit(p) = logit(q) + logit(π) − logit(r)</a:t>
            </a:r>
          </a:p>
        </p:txBody>
      </p:sp>
      <p:sp>
        <p:nvSpPr>
          <p:cNvPr id="9" name="TextBox 8"/>
          <p:cNvSpPr txBox="1"/>
          <p:nvPr/>
        </p:nvSpPr>
        <p:spPr>
          <a:xfrm>
            <a:off x="685800" y="4800600"/>
            <a:ext cx="10972800" cy="731520"/>
          </a:xfrm>
          <a:prstGeom prst="rect">
            <a:avLst/>
          </a:prstGeom>
          <a:noFill/>
        </p:spPr>
        <p:txBody>
          <a:bodyPr wrap="none" lIns="0" rIns="0" tIns="0" bIns="0">
            <a:spAutoFit/>
          </a:bodyPr>
          <a:lstStyle/>
          <a:p>
            <a:pPr>
              <a:lnSpc>
                <a:spcPct val="123000"/>
              </a:lnSpc>
              <a:spcAft>
                <a:spcPts val="0"/>
              </a:spcAft>
              <a:defRPr sz="1900" b="0">
                <a:solidFill>
                  <a:srgbClr val="17324D"/>
                </a:solidFill>
                <a:latin typeface="DejaVu Sans"/>
              </a:defRPr>
            </a:pPr>
            <a:r>
              <a:t>π: natural positive fraction; r: sampled fraction; q: calibrated sampled score.</a:t>
            </a:r>
          </a:p>
          <a:p>
            <a:pPr>
              <a:lnSpc>
                <a:spcPct val="123000"/>
              </a:lnSpc>
              <a:spcAft>
                <a:spcPts val="0"/>
              </a:spcAft>
              <a:defRPr sz="1900" b="0">
                <a:solidFill>
                  <a:srgbClr val="17324D"/>
                </a:solidFill>
                <a:latin typeface="DejaVu Sans"/>
              </a:defRPr>
            </a:pPr>
            <a:r>
              <a:t>Requires unchanged within-class distributions; not a general mixup correction.</a:t>
            </a:r>
          </a:p>
        </p:txBody>
      </p:sp>
      <p:sp>
        <p:nvSpPr>
          <p:cNvPr id="10" name="Rectangle 9"/>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600" b="1">
                <a:solidFill>
                  <a:srgbClr val="FFFFFF"/>
                </a:solidFill>
                <a:latin typeface="DejaVu Sans"/>
              </a:defRPr>
            </a:pPr>
            <a:r>
              <a:t>Correct sampling weights can restore the original objective; arbitrary class weights do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56032"/>
            <a:ext cx="10972800" cy="228600"/>
          </a:xfrm>
          <a:prstGeom prst="rect">
            <a:avLst/>
          </a:prstGeom>
          <a:noFill/>
        </p:spPr>
        <p:txBody>
          <a:bodyPr wrap="none" lIns="0" rIns="0" tIns="0" bIns="0">
            <a:spAutoFit/>
          </a:bodyPr>
          <a:lstStyle/>
          <a:p>
            <a:pPr>
              <a:lnSpc>
                <a:spcPct val="123000"/>
              </a:lnSpc>
              <a:spcAft>
                <a:spcPts val="0"/>
              </a:spcAft>
              <a:defRPr sz="1000" b="1">
                <a:solidFill>
                  <a:srgbClr val="008B8B"/>
                </a:solidFill>
                <a:latin typeface="DejaVu Sans"/>
              </a:defRPr>
            </a:pPr>
            <a:r>
              <a:t>SOURCES &amp; SPEAKER NOTES</a:t>
            </a:r>
          </a:p>
        </p:txBody>
      </p:sp>
      <p:sp>
        <p:nvSpPr>
          <p:cNvPr id="3" name="TextBox 2"/>
          <p:cNvSpPr txBox="1"/>
          <p:nvPr/>
        </p:nvSpPr>
        <p:spPr>
          <a:xfrm>
            <a:off x="502920" y="713232"/>
            <a:ext cx="11201400" cy="914400"/>
          </a:xfrm>
          <a:prstGeom prst="rect">
            <a:avLst/>
          </a:prstGeom>
          <a:noFill/>
        </p:spPr>
        <p:txBody>
          <a:bodyPr wrap="none" lIns="0" rIns="0" tIns="0" bIns="0">
            <a:spAutoFit/>
          </a:bodyPr>
          <a:lstStyle/>
          <a:p>
            <a:pPr>
              <a:lnSpc>
                <a:spcPct val="123000"/>
              </a:lnSpc>
              <a:spcAft>
                <a:spcPts val="0"/>
              </a:spcAft>
              <a:defRPr sz="2900" b="1">
                <a:solidFill>
                  <a:srgbClr val="17324D"/>
                </a:solidFill>
                <a:latin typeface="DejaVu Sans"/>
              </a:defRPr>
            </a:pPr>
            <a:r>
              <a:t>References and scope</a:t>
            </a:r>
          </a:p>
        </p:txBody>
      </p:sp>
      <p:sp>
        <p:nvSpPr>
          <p:cNvPr id="4" name="TextBox 3"/>
          <p:cNvSpPr txBox="1"/>
          <p:nvPr/>
        </p:nvSpPr>
        <p:spPr>
          <a:xfrm>
            <a:off x="502920" y="6519672"/>
            <a:ext cx="10515600" cy="182880"/>
          </a:xfrm>
          <a:prstGeom prst="rect">
            <a:avLst/>
          </a:prstGeom>
          <a:noFill/>
        </p:spPr>
        <p:txBody>
          <a:bodyPr wrap="none" lIns="0" rIns="0" tIns="0" bIns="0">
            <a:spAutoFit/>
          </a:bodyPr>
          <a:lstStyle/>
          <a:p>
            <a:pPr>
              <a:lnSpc>
                <a:spcPct val="123000"/>
              </a:lnSpc>
              <a:spcAft>
                <a:spcPts val="0"/>
              </a:spcAft>
              <a:defRPr sz="900" b="0">
                <a:solidFill>
                  <a:srgbClr val="576675"/>
                </a:solidFill>
                <a:latin typeface="DejaVu Sans"/>
              </a:defRPr>
            </a:pPr>
            <a:r>
              <a:t>Illustrative examples • No experimental model ranking</a:t>
            </a:r>
          </a:p>
        </p:txBody>
      </p:sp>
      <p:sp>
        <p:nvSpPr>
          <p:cNvPr id="5" name="TextBox 4"/>
          <p:cNvSpPr txBox="1"/>
          <p:nvPr/>
        </p:nvSpPr>
        <p:spPr>
          <a:xfrm>
            <a:off x="11247120" y="6492240"/>
            <a:ext cx="457200" cy="228600"/>
          </a:xfrm>
          <a:prstGeom prst="rect">
            <a:avLst/>
          </a:prstGeom>
          <a:noFill/>
        </p:spPr>
        <p:txBody>
          <a:bodyPr wrap="none" lIns="0" rIns="0" tIns="0" bIns="0">
            <a:spAutoFit/>
          </a:bodyPr>
          <a:lstStyle/>
          <a:p>
            <a:pPr>
              <a:lnSpc>
                <a:spcPct val="123000"/>
              </a:lnSpc>
              <a:spcAft>
                <a:spcPts val="0"/>
              </a:spcAft>
              <a:defRPr sz="1100" b="0">
                <a:solidFill>
                  <a:srgbClr val="576675"/>
                </a:solidFill>
                <a:latin typeface="DejaVu Sans"/>
              </a:defRPr>
            </a:pPr>
            <a:r>
              <a:t>16</a:t>
            </a:r>
          </a:p>
        </p:txBody>
      </p:sp>
      <p:sp>
        <p:nvSpPr>
          <p:cNvPr id="6" name="TextBox 5"/>
          <p:cNvSpPr txBox="1"/>
          <p:nvPr/>
        </p:nvSpPr>
        <p:spPr>
          <a:xfrm>
            <a:off x="685800" y="1600200"/>
            <a:ext cx="10881360" cy="960120"/>
          </a:xfrm>
          <a:prstGeom prst="rect">
            <a:avLst/>
          </a:prstGeom>
          <a:noFill/>
        </p:spPr>
        <p:txBody>
          <a:bodyPr wrap="none" lIns="0" rIns="0" tIns="0" bIns="0">
            <a:spAutoFit/>
          </a:bodyPr>
          <a:lstStyle/>
          <a:p>
            <a:pPr>
              <a:lnSpc>
                <a:spcPct val="123000"/>
              </a:lnSpc>
              <a:spcAft>
                <a:spcPts val="0"/>
              </a:spcAft>
              <a:defRPr sz="1800" b="0">
                <a:solidFill>
                  <a:srgbClr val="17324D"/>
                </a:solidFill>
                <a:latin typeface="DejaVu Sans"/>
              </a:defRPr>
            </a:pPr>
            <a:r>
              <a:t>Lin et al. (2017) — Focal Loss for Dense Object Detection</a:t>
            </a:r>
          </a:p>
          <a:p>
            <a:pPr>
              <a:lnSpc>
                <a:spcPct val="123000"/>
              </a:lnSpc>
              <a:spcAft>
                <a:spcPts val="0"/>
              </a:spcAft>
              <a:defRPr sz="1800" b="0">
                <a:solidFill>
                  <a:srgbClr val="17324D"/>
                </a:solidFill>
                <a:latin typeface="DejaVu Sans"/>
              </a:defRPr>
            </a:pPr>
            <a:r>
              <a:t>openaccess.thecvf.com/content_iccv_2017/html/Lin_Focal_Loss_for_ICCV_2017_paper.html</a:t>
            </a:r>
          </a:p>
        </p:txBody>
      </p:sp>
      <p:sp>
        <p:nvSpPr>
          <p:cNvPr id="7" name="TextBox 6"/>
          <p:cNvSpPr txBox="1"/>
          <p:nvPr/>
        </p:nvSpPr>
        <p:spPr>
          <a:xfrm>
            <a:off x="685800" y="2743200"/>
            <a:ext cx="10881360" cy="822960"/>
          </a:xfrm>
          <a:prstGeom prst="rect">
            <a:avLst/>
          </a:prstGeom>
          <a:noFill/>
        </p:spPr>
        <p:txBody>
          <a:bodyPr wrap="none" lIns="0" rIns="0" tIns="0" bIns="0">
            <a:spAutoFit/>
          </a:bodyPr>
          <a:lstStyle/>
          <a:p>
            <a:pPr>
              <a:lnSpc>
                <a:spcPct val="123000"/>
              </a:lnSpc>
              <a:spcAft>
                <a:spcPts val="0"/>
              </a:spcAft>
              <a:defRPr sz="1800" b="0">
                <a:solidFill>
                  <a:srgbClr val="17324D"/>
                </a:solidFill>
                <a:latin typeface="DejaVu Sans"/>
              </a:defRPr>
            </a:pPr>
            <a:r>
              <a:t>Zhang et al. (2018) — mixup: Beyond Empirical Risk Minimization</a:t>
            </a:r>
          </a:p>
          <a:p>
            <a:pPr>
              <a:lnSpc>
                <a:spcPct val="123000"/>
              </a:lnSpc>
              <a:spcAft>
                <a:spcPts val="0"/>
              </a:spcAft>
              <a:defRPr sz="1800" b="0">
                <a:solidFill>
                  <a:srgbClr val="17324D"/>
                </a:solidFill>
                <a:latin typeface="DejaVu Sans"/>
              </a:defRPr>
            </a:pPr>
            <a:r>
              <a:t>https://arxiv.org/abs/1710.09412</a:t>
            </a:r>
          </a:p>
        </p:txBody>
      </p:sp>
      <p:sp>
        <p:nvSpPr>
          <p:cNvPr id="8" name="TextBox 7"/>
          <p:cNvSpPr txBox="1"/>
          <p:nvPr/>
        </p:nvSpPr>
        <p:spPr>
          <a:xfrm>
            <a:off x="685800" y="3749039"/>
            <a:ext cx="10881360" cy="960120"/>
          </a:xfrm>
          <a:prstGeom prst="rect">
            <a:avLst/>
          </a:prstGeom>
          <a:noFill/>
        </p:spPr>
        <p:txBody>
          <a:bodyPr wrap="none" lIns="0" rIns="0" tIns="0" bIns="0">
            <a:spAutoFit/>
          </a:bodyPr>
          <a:lstStyle/>
          <a:p>
            <a:pPr>
              <a:lnSpc>
                <a:spcPct val="123000"/>
              </a:lnSpc>
              <a:spcAft>
                <a:spcPts val="0"/>
              </a:spcAft>
              <a:defRPr sz="1800" b="0">
                <a:solidFill>
                  <a:srgbClr val="17324D"/>
                </a:solidFill>
                <a:latin typeface="DejaVu Sans"/>
              </a:defRPr>
            </a:pPr>
            <a:r>
              <a:t>Menon et al. (2021) — Long-tail learning via logit adjustment</a:t>
            </a:r>
          </a:p>
          <a:p>
            <a:pPr>
              <a:lnSpc>
                <a:spcPct val="123000"/>
              </a:lnSpc>
              <a:spcAft>
                <a:spcPts val="0"/>
              </a:spcAft>
              <a:defRPr sz="1800" b="0">
                <a:solidFill>
                  <a:srgbClr val="17324D"/>
                </a:solidFill>
                <a:latin typeface="DejaVu Sans"/>
              </a:defRPr>
            </a:pPr>
            <a:r>
              <a:t>https://research.google/pubs/long-tail-learning-via-logit-adjustment/</a:t>
            </a:r>
          </a:p>
        </p:txBody>
      </p:sp>
      <p:sp>
        <p:nvSpPr>
          <p:cNvPr id="9" name="TextBox 8"/>
          <p:cNvSpPr txBox="1"/>
          <p:nvPr/>
        </p:nvSpPr>
        <p:spPr>
          <a:xfrm>
            <a:off x="685800" y="4892040"/>
            <a:ext cx="10881360" cy="594360"/>
          </a:xfrm>
          <a:prstGeom prst="rect">
            <a:avLst/>
          </a:prstGeom>
          <a:noFill/>
        </p:spPr>
        <p:txBody>
          <a:bodyPr wrap="none" lIns="0" rIns="0" tIns="0" bIns="0">
            <a:spAutoFit/>
          </a:bodyPr>
          <a:lstStyle/>
          <a:p>
            <a:pPr>
              <a:lnSpc>
                <a:spcPct val="123000"/>
              </a:lnSpc>
              <a:spcAft>
                <a:spcPts val="0"/>
              </a:spcAft>
              <a:defRPr sz="1800" b="0">
                <a:solidFill>
                  <a:srgbClr val="576675"/>
                </a:solidFill>
                <a:latin typeface="DejaVu Sans"/>
              </a:defRPr>
            </a:pPr>
            <a:r>
              <a:t>All numbers and diagrams here are illustrative calculations, not new training results.</a:t>
            </a:r>
          </a:p>
          <a:p>
            <a:pPr>
              <a:lnSpc>
                <a:spcPct val="123000"/>
              </a:lnSpc>
              <a:spcAft>
                <a:spcPts val="0"/>
              </a:spcAft>
              <a:defRPr sz="1800" b="0">
                <a:solidFill>
                  <a:srgbClr val="576675"/>
                </a:solidFill>
                <a:latin typeface="DejaVu Sans"/>
              </a:defRPr>
            </a:pPr>
            <a:r>
              <a:t>Failure modes describe possibilities, not inevitable outcomes of these methods.</a:t>
            </a:r>
          </a:p>
        </p:txBody>
      </p:sp>
      <p:sp>
        <p:nvSpPr>
          <p:cNvPr id="10" name="Rectangle 9"/>
          <p:cNvSpPr/>
          <p:nvPr/>
        </p:nvSpPr>
        <p:spPr>
          <a:xfrm>
            <a:off x="502920" y="5742432"/>
            <a:ext cx="11183112" cy="530352"/>
          </a:xfrm>
          <a:prstGeom prst="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852160"/>
            <a:ext cx="10817352" cy="329184"/>
          </a:xfrm>
          <a:prstGeom prst="rect">
            <a:avLst/>
          </a:prstGeom>
          <a:noFill/>
        </p:spPr>
        <p:txBody>
          <a:bodyPr wrap="none" lIns="0" rIns="0" tIns="0" bIns="0">
            <a:spAutoFit/>
          </a:bodyPr>
          <a:lstStyle/>
          <a:p>
            <a:pPr>
              <a:lnSpc>
                <a:spcPct val="123000"/>
              </a:lnSpc>
              <a:spcAft>
                <a:spcPts val="0"/>
              </a:spcAft>
              <a:defRPr sz="1700" b="1">
                <a:solidFill>
                  <a:srgbClr val="FFFFFF"/>
                </a:solidFill>
                <a:latin typeface="DejaVu Sans"/>
              </a:defRPr>
            </a:pPr>
            <a:r>
              <a:t>Detailed assumptions and derivations are included in the PowerPoint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