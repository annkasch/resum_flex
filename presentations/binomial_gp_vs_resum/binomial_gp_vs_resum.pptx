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the objective is a population-level optical detection map. The grids are schematic, not reconstructed simulation outputs. Different color intensities stand for different probabilities. Most voxels have no direct simulation. Explain voxel as a small volume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Illustrative example: 1000 independent simulated primary events, three of which produce at least one selected optical hit. A hit-producing primary counts once even if it creates multiple optical hits. Do not confuse m with the total number of detected photons.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 only. Assume a fixed underlying probability p=0.003 and N=1000; results of 0, 2 or 5 detections are possible binomial outcomes. No physics change is needed. These are not actual repeat measurements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 uses the CNP to learn from event features and context, then supplies averaged predictions to a multifidelity GP alongside raw HF fractions. The count GP uses coordinates and integer counts directly. Both infer spatial structure from sparse locations; neither is a physics solver.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Conceptual inference diagram. Nearby voxels can have different true probabilities; smoothness comes from the GP kernel, not a requirement that adjacent probabilities be equal. N=500,m=1 and N=5000,m=15 are illustrative inputs compatible with a low detection probability. The model combines spatial similarity with count likelihoods.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binomial probabilities for fixed p=0.003 at N=500 and N=5000. Bars are probability masses for discrete observed fractions; their spacing differs with N. Dashed line marks the same underlying probability 0.3% in both panels. The GP uses N in the likelihood rather than requiring hand-tuned per-file class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Illustrative arithmetic: five equal-budget simulations with counts 0,0,1,1,3 contain five detections in 5000 events. Keeping only the three positive files retains five detections but only 3000 events. This demonstrates an upward selection effect; it does not prove the true probability equals the full sample estimate. Actual count-GP HF data now include zero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Latent uncertainty concerns the underlying probability field. Predictive uncertainty for a repeated simulation includes that uncertainty plus finite-N binomial counting variation. Schematic intervals are illustrative and not fitted values. Posterior hyperparameter uncertainty is not included by the current plug-in Laplace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CNP learns event-level structure conditioned on context; averaged event predictions can reduce random fluctuations if the learned model is useful. Denoising is a potential benefit, not guaranteed unbiased estimation. Current LF class-aware mixup including context can affect mean calibration. CNP uncertainty is not fully propagated through the current MFGP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direct count GP is the simpler statistical baseline for identical physics with variable statistics. It deliberately does not exploit event covariates. A valid comparison requires matching held-out locations and raw count targets. GP smoothness, finite spatial support, binomial assumptions and approximate posterior inference remain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saved run: outputs/optical_binomial/20261001T173754_521023Z. One dot per held-out HF voxel, all N=5000. Mean absolute error 0.000679715 as a fraction equals 0.0679715 percentage points. 95.45% nominal interval includes51of55. Pearson0.849. Different training and validation data prevent comparison with saved RESuM run as a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for future evaluation, not claimed completed. Current count run uses760 LF and10HF training plus55HFvalidation; saved RESuM run used159LF and10HFtraining plus46HFvalidation. Original target budgets differ. Dense local sampling is a scientific design recommendation, not a proven optimal voxel arrangement.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s_i is a voxel center, m_i is the integer number of hit-producing primaries, and N_i is the known total number of simulated primaries. A GP prior acts on log-odds f. The logistic link bounds p. Conditional independence gives a product of binomial likelihoods over runs. The posterior is not analytically Gaussian; the implemented Laplace approximation is centered at its mode. Kernel parameters are optimized by approximate evidence, and their uncertainty is not integrated. Same physics and primary-generation distribution are required to use one probability field. Source: core/binomial_gp.py; GPML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describes the current optical-map configuration, not every possible RESuM model. The two-output CNP predicts a distribution whose approximate mean q_j enters the theory-truth Bernoulli cross-entropy; class-aware mixup can provide soft labels and is not an ordinary natural-frequency sample. Average event probabilities to obtain b_i. The three spatial GP output levels are LF CNP mean, HF CNP mean and HF raw fraction. For the current log-space fit, the HF raw training rate is smoothed as (m+0.5)/(N+1); nonpositive CNP means are floored before taking logs. The linear multifidelity kernel implements g_l(s)=rho_l*g_(l-1)(s)+delta_l(s), with independent GP discrepancies and Gaussian observation noise per level. Gaussian conditioning is analytic conditional on fitted kernel/noise parameters. CNP scale is not used as GP noise and its full uncertainty is not propagated. Sources: core/surrogate_cnp.py, core/surrogates/mfgp_stage.py, core/surrogate_mfgp.py.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GPML chapter3 supports logistic Gaussian processes and Laplace approximation. The current grouped binomial model uses event counts directly. GP prior is Matérn5/2+Bias, ARD lengthscales; RBF optional. It assumes independent primary detections within each voxel population. Hyperparameters are optimized rather than marginalized.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artifact directories: outputs/optical_binomial/20261001T173754_521023Z and outputs/optical_resum/notebook/20260930T195141_282030Z. Counts and split information verified from saved artifacts. Nonzero-only LF selection affects the older workflow. These snapshots should not be interpreted as matched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references are background for CNPs and logistic GP inference. Implementation-specific statements are verified against the local RESUM_FLEX source, not attributed to these papers. All colored grid diagrams, sample counts and distributions in the main deck are illustrative except the saved-run scatterplot. No new model was trained for these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0"/>
              </a:lnSpc>
              <a:spcAft>
                <a:spcPts val="0"/>
              </a:spcAft>
              <a:defRPr sz="2950" b="1">
                <a:solidFill>
                  <a:srgbClr val="142E43"/>
                </a:solidFill>
                <a:latin typeface="DejaVu Sans"/>
              </a:defRPr>
            </a:pPr>
            <a:r>
              <a:t>How can we predict light detection across the tank?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83080"/>
            <a:ext cx="316382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What we have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1691640"/>
            <a:ext cx="338328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2088" y="1783080"/>
            <a:ext cx="316382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What we want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7048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11095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95144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79191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63240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47288" y="242316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27048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11095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95144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79191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63240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47288" y="280720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27048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11095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95144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79191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63240" y="3191256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47288" y="3191256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7048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11095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95144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79191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63240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7288" y="3575304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27048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11095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95144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79191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63240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47288" y="3959352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527048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11095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95144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79191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63240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47288" y="4343400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43000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27048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11095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95144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679191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063240" y="4727448"/>
            <a:ext cx="352044" cy="352044"/>
          </a:xfrm>
          <a:prstGeom prst="rect">
            <a:avLst/>
          </a:prstGeom>
          <a:solidFill>
            <a:srgbClr val="E3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47288" y="472744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0" y="3291840"/>
            <a:ext cx="777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242316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47888" y="242316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631936" y="242316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15984" y="2423160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00032" y="2423160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784080" y="2423160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68128" y="2423160"/>
            <a:ext cx="352044" cy="352044"/>
          </a:xfrm>
          <a:prstGeom prst="rect">
            <a:avLst/>
          </a:prstGeom>
          <a:solidFill>
            <a:srgbClr val="0071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863840" y="280720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47888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31936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280720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400032" y="2807208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784080" y="2807208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168128" y="2807208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863840" y="3191256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47888" y="3191256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31936" y="3191256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15984" y="3191256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00032" y="3191256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784080" y="3191256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168128" y="3191256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863840" y="3575304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247888" y="3575304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31936" y="3575304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15984" y="3575304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400032" y="3575304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784080" y="3575304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68128" y="3575304"/>
            <a:ext cx="352044" cy="352044"/>
          </a:xfrm>
          <a:prstGeom prst="rect">
            <a:avLst/>
          </a:prstGeom>
          <a:solidFill>
            <a:srgbClr val="288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63840" y="3959352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47888" y="3959352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31936" y="3959352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15984" y="3959352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400032" y="3959352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784080" y="3959352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168128" y="3959352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863840" y="4343400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47888" y="4343400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31936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15984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400032" y="4343400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784080" y="434340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168128" y="4343400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863840" y="4727448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247888" y="4727448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631936" y="4727448"/>
            <a:ext cx="352044" cy="352044"/>
          </a:xfrm>
          <a:prstGeom prst="rect">
            <a:avLst/>
          </a:prstGeom>
          <a:solidFill>
            <a:srgbClr val="DAE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015984" y="472744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400032" y="472744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84080" y="4727448"/>
            <a:ext cx="352044" cy="352044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168128" y="4727448"/>
            <a:ext cx="352044" cy="352044"/>
          </a:xfrm>
          <a:prstGeom prst="rect">
            <a:avLst/>
          </a:prstGeom>
          <a:solidFill>
            <a:srgbClr val="67B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7240" y="5257800"/>
            <a:ext cx="42976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75"/>
              </a:lnSpc>
              <a:spcAft>
                <a:spcPts val="0"/>
              </a:spcAft>
              <a:defRPr sz="2229" b="1">
                <a:solidFill>
                  <a:srgbClr val="142E43"/>
                </a:solidFill>
                <a:latin typeface="DejaVu Sans"/>
              </a:defRPr>
            </a:pPr>
            <a:r>
              <a:t>A few simulated locations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132320" y="5257800"/>
            <a:ext cx="4572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8"/>
              </a:lnSpc>
              <a:spcAft>
                <a:spcPts val="0"/>
              </a:spcAft>
              <a:defRPr sz="2007" b="1">
                <a:solidFill>
                  <a:srgbClr val="142E43"/>
                </a:solidFill>
                <a:latin typeface="DejaVu Sans"/>
              </a:defRPr>
            </a:pPr>
            <a:r>
              <a:t>A probability at every location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Each square represents a voxel: one small region of the liquid argon. Schematic illustration.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One simulation tells us a count and a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85216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5632704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One voxel • 1,000 simulated events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385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6187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8988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4592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7393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90195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2996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5798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8600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1401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54203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7004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806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2608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5409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8211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1012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3814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6616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9417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82219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95020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07822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20624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33425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46227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9028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71830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84632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7433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10235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230368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358384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486400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14416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42432" y="238658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980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7782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0584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3385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6187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8988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51790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64592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7393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0195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02996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15798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8600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41401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54203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67004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79806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92608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05409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18211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1012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3814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56616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417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82219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95020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07822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0624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3425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46227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9028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71830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84632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7433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10235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230368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358384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614416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742432" y="248899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980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782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0584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3385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26187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8988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51790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4592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77393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0195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2996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15798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28600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41401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54203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67004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79806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92608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05409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18211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31012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3814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6616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69417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82219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5020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07822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20624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33425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46227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59028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71830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84632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97433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10235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230368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358384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486400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614416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742432" y="259140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4980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7782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584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3385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6187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89888" y="2693822"/>
            <a:ext cx="73152" cy="7315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51790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64592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77393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90195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02996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15798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28600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41401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54203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67004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79806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92608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05409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18211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31012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43814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56616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69417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82219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95020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07822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420624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33425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46227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59028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71830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84632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97433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10235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5230368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358384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486400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614416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5742432" y="269382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4980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7782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00584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3385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26187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38988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51790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64592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77393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90195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02996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15798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28600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41401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254203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67004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79806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92608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05409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18211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31012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343814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56616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69417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82219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95020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407822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20624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433425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446227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59028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71830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84632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97433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510235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230368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358384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486400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614416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742432" y="279623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4980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87782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00584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13385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26187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8988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1790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64592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77393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90195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2996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15798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28600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41401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54203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67004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79806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92608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305409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318211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31012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43814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56616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69417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82219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95020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07822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20624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33425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46227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59028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71830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484632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97433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10235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230368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358384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486400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614416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742432" y="289864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74980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87782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00584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13385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26187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38988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51790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64592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77393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90195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02996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15798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28600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41401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54203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67004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79806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92608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305409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18211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331012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343814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356616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369417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82219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395020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07822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20624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33425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446227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59028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471830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84632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97433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10235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5230368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5358384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486400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614416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742432" y="300106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4980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87782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00584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13385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26187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138988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151790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164592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177393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190195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2996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15798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28600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1401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54203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67004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79806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92608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05409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18211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331012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43814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56616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69417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82219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395020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07822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20624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33425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46227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59028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471830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84632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97433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510235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5230368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5358384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5486400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5614416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5742432" y="310347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4980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7782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100584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113385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126187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138988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151790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164592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177393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190195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02996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15798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28600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41401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54203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67004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79806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92608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05409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18211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31012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43814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56616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69417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82219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95020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07822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420624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33425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446227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459028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471830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84632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497433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510235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5230368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358384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5486400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5614416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5742432" y="320588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4980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87782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100584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3385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126187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38988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151790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64592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177393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190195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02996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15798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28600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41401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4203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7004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79806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92608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05409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18211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31012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43814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56616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69417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82219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95020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407822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420624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433425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446227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59028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471830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84632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97433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510235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230368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358384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5486400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5614416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742432" y="3308299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4980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87782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0584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13385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126187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138988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51790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64592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77393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90195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02996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15798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28600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41401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54203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67004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79806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2608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05409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18211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31012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3814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56616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69417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82219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95020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07822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420624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433425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446227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59028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471830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484632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497433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510235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5230368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5358384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5486400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5614416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5742432" y="341071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74980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87782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0584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13385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26187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38988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51790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64592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77393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90195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202996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215798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228600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241401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254203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267004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279806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292608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05409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18211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31012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43814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56616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69417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82219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95020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407822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420624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433425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446227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459028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471830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484632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497433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510235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5230368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5358384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5486400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5614416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5742432" y="351312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74980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87782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00584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3385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126187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38988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51790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64592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77393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90195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02996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15798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28600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241401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254203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67004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79806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2608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305409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318211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331012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343814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356616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369417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382219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395020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407822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420624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433425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446227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459028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471830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484632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497433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510235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5230368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5358384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5486400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5614416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5742432" y="361553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74980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87782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00584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3385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26187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38988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151790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164592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177393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90195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202996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215798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228600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241401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254203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67004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79806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92608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305409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318211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331012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343814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356616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369417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382219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395020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407822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420624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4334256" y="3717950"/>
            <a:ext cx="73152" cy="7315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446227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459028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471830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484632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497433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510235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230368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5358384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5486400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614416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742432" y="371795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74980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87782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100584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113385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126187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138988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151790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164592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177393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190195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02996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15798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28600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41401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54203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67004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79806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92608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305409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18211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31012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43814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56616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69417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382219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395020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407822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420624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433425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446227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459028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471830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484632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97433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510235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230368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5358384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5486400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5614416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5742432" y="3820363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74980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87782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100584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113385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126187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138988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151790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164592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177393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190195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02996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15798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28600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1401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54203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67004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79806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92608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305409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318211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331012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343814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356616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369417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382219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395020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407822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420624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433425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446227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459028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471830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484632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497433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510235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5230368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5358384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5486400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5614416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5742432" y="3922776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74980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87782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100584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113385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126187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138988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151790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164592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177393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190195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202996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215798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228600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241401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254203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267004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279806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292608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305409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18211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331012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343814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356616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369417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382219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395020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407822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420624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33425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446227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459028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471830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484632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497433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510235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5230368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5358384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5486400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5614416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742432" y="402518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74980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87782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100584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113385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126187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138988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151790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164592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177393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190195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202996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215798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228600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241401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254203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267004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279806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292608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305409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318211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331012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343814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356616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369417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382219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395020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407822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420624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433425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446227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459028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471830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484632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497433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510235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5230368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5358384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5486400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5614416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5742432" y="412760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74980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87782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100584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113385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126187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138988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151790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164592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177393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190195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202996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215798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228600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241401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254203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267004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279806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292608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305409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318211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331012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343814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356616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369417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382219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395020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407822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420624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433425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446227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459028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471830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484632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497433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510235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5230368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5358384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5486400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5614416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5742432" y="4230014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74980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87782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100584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113385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126187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138988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151790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164592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177393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190195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202996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215798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228600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241401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254203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267004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279806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292608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305409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318211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331012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343814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356616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369417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382219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395020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407822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420624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433425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446227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459028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471830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484632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497433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510235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5230368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5358384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5486400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5614416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5742432" y="4332427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74980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87782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100584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113385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126187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138988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151790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164592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177393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190195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202996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215798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228600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241401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254203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267004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279806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292608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305409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318211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331012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343814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356616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369417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382219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395020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407822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420624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433425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446227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459028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471830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484632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497433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510235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5230368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5358384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5486400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5614416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5742432" y="4434840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74980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87782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100584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113385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126187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138988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151790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164592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177393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190195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202996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215798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228600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241401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254203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267004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279806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292608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305409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318211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331012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343814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356616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369417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382219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395020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407822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420624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433425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446227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459028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471830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484632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497433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510235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5230368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5358384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5486400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5614416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5742432" y="4537252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74980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87782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100584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1133856" y="4639665"/>
            <a:ext cx="73152" cy="7315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126187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138988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151790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164592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177393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190195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202996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215798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228600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241401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254203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267004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279806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292608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xfrm>
            <a:off x="305409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xfrm>
            <a:off x="318211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331012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xfrm>
            <a:off x="343814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xfrm>
            <a:off x="356616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369417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xfrm>
            <a:off x="382219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xfrm>
            <a:off x="395020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xfrm>
            <a:off x="407822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xfrm>
            <a:off x="420624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xfrm>
            <a:off x="433425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xfrm>
            <a:off x="446227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xfrm>
            <a:off x="459028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471830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484632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497433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xfrm>
            <a:off x="510235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xfrm>
            <a:off x="5230368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xfrm>
            <a:off x="5358384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xfrm>
            <a:off x="5486400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5614416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xfrm>
            <a:off x="5742432" y="4639665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xfrm>
            <a:off x="74980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xfrm>
            <a:off x="87782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xfrm>
            <a:off x="100584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xfrm>
            <a:off x="113385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xfrm>
            <a:off x="126187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xfrm>
            <a:off x="138988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xfrm>
            <a:off x="151790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xfrm>
            <a:off x="164592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xfrm>
            <a:off x="177393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190195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202996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215798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xfrm>
            <a:off x="228600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xfrm>
            <a:off x="241401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xfrm>
            <a:off x="254203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xfrm>
            <a:off x="267004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xfrm>
            <a:off x="279806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xfrm>
            <a:off x="292608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xfrm>
            <a:off x="305409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xfrm>
            <a:off x="318211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xfrm>
            <a:off x="331012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xfrm>
            <a:off x="343814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xfrm>
            <a:off x="356616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369417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382219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395020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xfrm>
            <a:off x="407822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xfrm>
            <a:off x="420624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xfrm>
            <a:off x="433425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xfrm>
            <a:off x="446227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xfrm>
            <a:off x="459028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xfrm>
            <a:off x="471830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xfrm>
            <a:off x="484632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xfrm>
            <a:off x="497433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xfrm>
            <a:off x="510235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xfrm>
            <a:off x="5230368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xfrm>
            <a:off x="5358384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5486400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5614416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5742432" y="4742078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xfrm>
            <a:off x="74980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xfrm>
            <a:off x="87782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xfrm>
            <a:off x="100584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xfrm>
            <a:off x="113385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xfrm>
            <a:off x="126187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xfrm>
            <a:off x="138988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xfrm>
            <a:off x="151790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xfrm>
            <a:off x="164592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xfrm>
            <a:off x="177393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xfrm>
            <a:off x="190195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xfrm>
            <a:off x="202996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215798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228600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241401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254203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xfrm>
            <a:off x="267004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xfrm>
            <a:off x="279806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292608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305409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318211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331012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xfrm>
            <a:off x="343814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xfrm>
            <a:off x="356616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369417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xfrm>
            <a:off x="382219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395020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407822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420624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xfrm>
            <a:off x="433425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446227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xfrm>
            <a:off x="459028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xfrm>
            <a:off x="471830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484632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xfrm>
            <a:off x="497433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xfrm>
            <a:off x="510235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5230368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5358384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5486400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5614416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5742432" y="4844491"/>
            <a:ext cx="73152" cy="73152"/>
          </a:xfrm>
          <a:prstGeom prst="ellipse">
            <a:avLst/>
          </a:prstGeom>
          <a:solidFill>
            <a:srgbClr val="CCD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763524" y="5198364"/>
            <a:ext cx="118872" cy="118872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TextBox 1011"/>
          <p:cNvSpPr txBox="1"/>
          <p:nvPr/>
        </p:nvSpPr>
        <p:spPr>
          <a:xfrm>
            <a:off x="1005840" y="5120640"/>
            <a:ext cx="45720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Event with a detection</a:t>
            </a:r>
          </a:p>
        </p:txBody>
      </p:sp>
      <p:sp>
        <p:nvSpPr>
          <p:cNvPr id="1013" name="TextBox 1012"/>
          <p:cNvSpPr txBox="1"/>
          <p:nvPr/>
        </p:nvSpPr>
        <p:spPr>
          <a:xfrm>
            <a:off x="7452360" y="2148840"/>
            <a:ext cx="27432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480"/>
              </a:lnSpc>
              <a:spcAft>
                <a:spcPts val="0"/>
              </a:spcAft>
              <a:defRPr sz="5400" b="1">
                <a:solidFill>
                  <a:srgbClr val="007F83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6583680" y="3154680"/>
            <a:ext cx="4572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142E43"/>
                </a:solidFill>
                <a:latin typeface="DejaVu Sans"/>
              </a:defRPr>
            </a:pPr>
            <a:r>
              <a:t>events produced a hit</a:t>
            </a:r>
          </a:p>
        </p:txBody>
      </p:sp>
      <p:sp>
        <p:nvSpPr>
          <p:cNvPr id="1015" name="Rectangle 1014"/>
          <p:cNvSpPr/>
          <p:nvPr/>
        </p:nvSpPr>
        <p:spPr>
          <a:xfrm>
            <a:off x="6583680" y="3977639"/>
            <a:ext cx="4663440" cy="1051560"/>
          </a:xfrm>
          <a:prstGeom prst="rect">
            <a:avLst/>
          </a:prstGeom>
          <a:solidFill>
            <a:srgbClr val="142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6812280" y="4233672"/>
            <a:ext cx="425196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FFFFFF"/>
                </a:solidFill>
                <a:latin typeface="DejaVu Sans"/>
              </a:defRPr>
            </a:pPr>
            <a:r>
              <a:t>3 / 1,000 = 0.3%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The map should estimate the underlying chance of detection—not reproduce every random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Repeat the same simulation: the count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142E43"/>
                </a:solidFill>
                <a:latin typeface="DejaVu Sans"/>
              </a:defRPr>
            </a:pPr>
            <a:r>
              <a:t>Same voxel. Same physics. Same 1,000 events per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60320"/>
            <a:ext cx="288036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852928"/>
            <a:ext cx="23774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007F83"/>
                </a:solidFill>
                <a:latin typeface="DejaVu Sans"/>
              </a:defRPr>
            </a:pPr>
            <a:r>
              <a:t>0 hits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49039"/>
            <a:ext cx="23774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0">
                <a:solidFill>
                  <a:srgbClr val="142E43"/>
                </a:solidFill>
                <a:latin typeface="DejaVu Sans"/>
              </a:defRPr>
            </a:pPr>
            <a:r>
              <a:t>0.0%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2560320"/>
            <a:ext cx="288036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852928"/>
            <a:ext cx="23774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007F83"/>
                </a:solidFill>
                <a:latin typeface="DejaVu Sans"/>
              </a:defRPr>
            </a:pPr>
            <a:r>
              <a:t>2 hits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749039"/>
            <a:ext cx="23774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0">
                <a:solidFill>
                  <a:srgbClr val="142E43"/>
                </a:solidFill>
                <a:latin typeface="DejaVu Sans"/>
              </a:defRPr>
            </a:pPr>
            <a:r>
              <a:t>0.2%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2560320"/>
            <a:ext cx="288036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852928"/>
            <a:ext cx="237744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007F83"/>
                </a:solidFill>
                <a:latin typeface="DejaVu Sans"/>
              </a:defRPr>
            </a:pPr>
            <a:r>
              <a:t>5 hits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23774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0">
                <a:solidFill>
                  <a:srgbClr val="142E43"/>
                </a:solidFill>
                <a:latin typeface="DejaVu Sans"/>
              </a:defRPr>
            </a:pPr>
            <a:r>
              <a:t>0.5%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07899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3"/>
              </a:lnSpc>
              <a:spcAft>
                <a:spcPts val="0"/>
              </a:spcAft>
              <a:defRPr sz="2419" b="1">
                <a:solidFill>
                  <a:srgbClr val="142E43"/>
                </a:solidFill>
                <a:latin typeface="DejaVu Sans"/>
              </a:defRPr>
            </a:pPr>
            <a:r>
              <a:t>Different observations can come from the same probability.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This random variation is counting noise. Example values are illustrative.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Two routes from simulation data to an optical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691640"/>
            <a:ext cx="205740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83080"/>
            <a:ext cx="1837943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RESuM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691640"/>
            <a:ext cx="26974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40" y="1691640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1892808"/>
            <a:ext cx="22402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42"/>
              </a:lnSpc>
              <a:spcAft>
                <a:spcPts val="0"/>
              </a:spcAft>
              <a:defRPr sz="1701" b="1">
                <a:solidFill>
                  <a:srgbClr val="007F83"/>
                </a:solidFill>
                <a:latin typeface="DejaVu Sans"/>
              </a:defRPr>
            </a:pPr>
            <a:r>
              <a:t>Event information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532888"/>
            <a:ext cx="22402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Event details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and hit labels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1691640"/>
            <a:ext cx="26974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691640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892808"/>
            <a:ext cx="22402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78"/>
              </a:lnSpc>
              <a:spcAft>
                <a:spcPts val="0"/>
              </a:spcAft>
              <a:defRPr sz="1981" b="1">
                <a:solidFill>
                  <a:srgbClr val="007F83"/>
                </a:solidFill>
                <a:latin typeface="DejaVu Sans"/>
              </a:defRPr>
            </a:pPr>
            <a:r>
              <a:t>Neural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32888"/>
            <a:ext cx="22402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CNP learns event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patterns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691640"/>
            <a:ext cx="26974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9680" y="1691640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892808"/>
            <a:ext cx="22402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Spatial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532888"/>
            <a:ext cx="22402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GP combines the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212848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2" y="2212848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977639"/>
            <a:ext cx="2057400" cy="502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069079"/>
            <a:ext cx="1837943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DejaVu Sans"/>
              </a:defRPr>
            </a:pPr>
            <a:r>
              <a:t>Binomial GP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3977639"/>
            <a:ext cx="411480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34640" y="3977639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178807"/>
            <a:ext cx="3657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Counts +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818888"/>
            <a:ext cx="36576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Position, hits, total events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480560"/>
            <a:ext cx="5486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977639"/>
            <a:ext cx="342900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977639"/>
            <a:ext cx="64008" cy="1600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4178807"/>
            <a:ext cx="2971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Spatial map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4818888"/>
            <a:ext cx="29718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One probability field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A GP is a model that learns a smooth spatial pattern and uncertainty from observed locations.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Aft>
                <a:spcPts val="0"/>
              </a:spcAft>
              <a:defRPr sz="2496" b="1">
                <a:solidFill>
                  <a:srgbClr val="142E43"/>
                </a:solidFill>
                <a:latin typeface="DejaVu Sans"/>
              </a:defRPr>
            </a:pPr>
            <a:r>
              <a:t>The binomial GP asks: what probability explains the counts?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4069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64008" cy="1417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3611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Nearby voxel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1 hit / 500 events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886200"/>
            <a:ext cx="4069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86200"/>
            <a:ext cx="64008" cy="1417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87368"/>
            <a:ext cx="3611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Nearby voxel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27448"/>
            <a:ext cx="36118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15 hits / 5,000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06324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007F83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4983480" cy="2560320"/>
          </a:xfrm>
          <a:prstGeom prst="rect">
            <a:avLst/>
          </a:prstGeom>
          <a:solidFill>
            <a:srgbClr val="142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560320"/>
            <a:ext cx="43434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39"/>
              </a:lnSpc>
              <a:spcAft>
                <a:spcPts val="0"/>
              </a:spcAft>
              <a:defRPr sz="2366" b="1">
                <a:solidFill>
                  <a:srgbClr val="FFFFFF"/>
                </a:solidFill>
                <a:latin typeface="DejaVu Sans"/>
              </a:defRPr>
            </a:pPr>
            <a:r>
              <a:t>Learn the spatial</a:t>
            </a:r>
          </a:p>
          <a:p>
            <a:pPr>
              <a:lnSpc>
                <a:spcPts val="2839"/>
              </a:lnSpc>
              <a:spcAft>
                <a:spcPts val="0"/>
              </a:spcAft>
              <a:defRPr sz="2366" b="1">
                <a:solidFill>
                  <a:srgbClr val="FFFFFF"/>
                </a:solidFill>
                <a:latin typeface="DejaVu Sans"/>
              </a:defRPr>
            </a:pPr>
            <a:r>
              <a:t>pattern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566160"/>
            <a:ext cx="4343400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FFFFFF"/>
                </a:solidFill>
                <a:latin typeface="DejaVu Sans"/>
              </a:defRPr>
            </a:pPr>
            <a:r>
              <a:t>Use each count together</a:t>
            </a:r>
          </a:p>
          <a:p>
            <a:pPr>
              <a:lnSpc>
                <a:spcPts val="3000"/>
              </a:lnSpc>
              <a:spcAft>
                <a:spcPts val="0"/>
              </a:spcAft>
              <a:defRPr sz="2500" b="0">
                <a:solidFill>
                  <a:srgbClr val="FFFFFF"/>
                </a:solidFill>
                <a:latin typeface="DejaVu Sans"/>
              </a:defRPr>
            </a:pPr>
            <a:r>
              <a:t>with its simulation budget.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More simulated events generally provide a more precise observation. No extra fidelity function is needed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A larger simulation gives a steadier estimate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06</a:t>
            </a:r>
          </a:p>
        </p:txBody>
      </p:sp>
      <p:pic>
        <p:nvPicPr>
          <p:cNvPr id="9" name="Picture 8" descr="counting_budg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87657"/>
            <a:ext cx="10972800" cy="28826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40"/>
              </a:lnSpc>
              <a:spcAft>
                <a:spcPts val="0"/>
              </a:spcAft>
              <a:defRPr sz="2700" b="1">
                <a:solidFill>
                  <a:srgbClr val="142E43"/>
                </a:solidFill>
                <a:latin typeface="DejaVu Sans"/>
              </a:defRPr>
            </a:pPr>
            <a:r>
              <a:t>Both simulations describe the same physics.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Illustration: the true detection probability is 0.3% in both panels. Dashed line = true probability.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Zero-hit simulations are useful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0 hits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99232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7832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0 hits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6944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5544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1 hit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2392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34656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63256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1 hit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0104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02368" y="1828800"/>
            <a:ext cx="20116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30968" y="2084831"/>
            <a:ext cx="15544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Aft>
                <a:spcPts val="0"/>
              </a:spcAft>
              <a:defRPr sz="2900" b="1">
                <a:solidFill>
                  <a:srgbClr val="007F83"/>
                </a:solidFill>
                <a:latin typeface="DejaVu Sans"/>
              </a:defRPr>
            </a:pPr>
            <a:r>
              <a:t>3 hits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7816" y="31546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1,000 events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50749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114800"/>
            <a:ext cx="64008" cy="13716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315968"/>
            <a:ext cx="4617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Keep all five runs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956048"/>
            <a:ext cx="4617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5 hits / 5,000 events = 0.10%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14800"/>
            <a:ext cx="50749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114800"/>
            <a:ext cx="64008" cy="13716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315968"/>
            <a:ext cx="4617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Keep only nonzero runs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956048"/>
            <a:ext cx="4617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5 hits / 3,000 events = 0.17%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Removing zero-hit files raises the observed average. A zero count does not mean zero probability.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Uncertainty answers two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31"/>
              </a:lnSpc>
              <a:spcAft>
                <a:spcPts val="0"/>
              </a:spcAft>
              <a:defRPr sz="2192" b="1">
                <a:solidFill>
                  <a:srgbClr val="007F83"/>
                </a:solidFill>
                <a:latin typeface="DejaVu Sans"/>
              </a:defRPr>
            </a:pPr>
            <a:r>
              <a:t>How well do we know the map?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Only a few locations were simulated.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true probability is uncertain.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22"/>
              </a:lnSpc>
              <a:spcAft>
                <a:spcPts val="0"/>
              </a:spcAft>
              <a:defRPr sz="2018" b="1">
                <a:solidFill>
                  <a:srgbClr val="007F83"/>
                </a:solidFill>
                <a:latin typeface="DejaVu Sans"/>
              </a:defRPr>
            </a:pPr>
            <a:r>
              <a:t>What would a new run observe?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 at a known probability,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 finite simulation produces random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counts.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434840"/>
            <a:ext cx="3931920" cy="73152"/>
          </a:xfrm>
          <a:prstGeom prst="rect">
            <a:avLst/>
          </a:prstGeom>
          <a:solidFill>
            <a:srgbClr val="53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0" y="4233672"/>
            <a:ext cx="1188720" cy="457200"/>
          </a:xfrm>
          <a:prstGeom prst="rect">
            <a:avLst/>
          </a:prstGeom>
          <a:solidFill>
            <a:srgbClr val="A5D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63240" y="4361688"/>
            <a:ext cx="182880" cy="18288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0" y="4434840"/>
            <a:ext cx="3931920" cy="73152"/>
          </a:xfrm>
          <a:prstGeom prst="rect">
            <a:avLst/>
          </a:prstGeom>
          <a:solidFill>
            <a:srgbClr val="53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4233672"/>
            <a:ext cx="3246120" cy="457200"/>
          </a:xfrm>
          <a:prstGeom prst="rect">
            <a:avLst/>
          </a:prstGeom>
          <a:solidFill>
            <a:srgbClr val="F4D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0" y="4361688"/>
            <a:ext cx="182880" cy="18288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5212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0">
                <a:solidFill>
                  <a:srgbClr val="142E43"/>
                </a:solidFill>
                <a:latin typeface="DejaVu Sans"/>
              </a:defRPr>
            </a:pPr>
            <a:r>
              <a:t>Uncertainty in the probability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074920"/>
            <a:ext cx="5212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0"/>
              </a:lnSpc>
              <a:spcAft>
                <a:spcPts val="0"/>
              </a:spcAft>
              <a:defRPr sz="2050" b="0">
                <a:solidFill>
                  <a:srgbClr val="142E43"/>
                </a:solidFill>
                <a:latin typeface="DejaVu Sans"/>
              </a:defRPr>
            </a:pPr>
            <a:r>
              <a:t>Uncertainty in a new observed 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Both approaches must distinguish uncertainty in the map from variation between repeated simulations.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0"/>
              </a:lnSpc>
              <a:spcAft>
                <a:spcPts val="0"/>
              </a:spcAft>
              <a:defRPr sz="2950" b="1">
                <a:solidFill>
                  <a:srgbClr val="142E43"/>
                </a:solidFill>
                <a:latin typeface="DejaVu Sans"/>
              </a:defRPr>
            </a:pPr>
            <a:r>
              <a:t>RESuM uses more information, but has more stages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Why keep RESuM?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Event features may explain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detections.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CNP can learn useful patterns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before spatial interpolation.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It also provides event-level scores.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What must we check?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Denoising can introduce bias.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Mixup and training choices affect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averaged predictions.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Extra stages need extra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The choice depends on what information we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Binomial GP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Best starting point when: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we need a voxel probability map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and only simulation budgets differ.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strength: counts and N enter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directly.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limitation: no event-level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features.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388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38862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RESuM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3017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Worth retaining when: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event features and CNP denoising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add measurable predictive value.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strength: richer input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information.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Main limitation: a more complex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pipeline.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23"/>
              </a:lnSpc>
              <a:spcAft>
                <a:spcPts val="0"/>
              </a:spcAft>
              <a:defRPr sz="2519" b="1">
                <a:solidFill>
                  <a:srgbClr val="142E43"/>
                </a:solidFill>
                <a:latin typeface="DejaVu Sans"/>
              </a:defRPr>
            </a:pPr>
            <a:r>
              <a:t>The current model reproduces much of the spatial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11</a:t>
            </a:r>
          </a:p>
        </p:txBody>
      </p:sp>
      <p:pic>
        <p:nvPicPr>
          <p:cNvPr id="9" name="Picture 8" descr="count_gp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00200"/>
            <a:ext cx="5943600" cy="4160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78040" y="1783080"/>
            <a:ext cx="434340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78040" y="1783080"/>
            <a:ext cx="64008" cy="361188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984248"/>
            <a:ext cx="3886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55 held-out HF voxels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624328"/>
            <a:ext cx="3886200" cy="274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Each dot is one voxel.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Typical absolute error: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0.068 percentage points.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51 / 55 observations fall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inside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nominal 95.45%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intervals.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This checks the binomial GP on its own data split. It does not establish superiority over RESuM.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LAR OPTICAL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The next test should be a fair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649224" y="1783079"/>
            <a:ext cx="457200" cy="45720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28800"/>
            <a:ext cx="274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37360"/>
            <a:ext cx="98755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7F83"/>
                </a:solidFill>
                <a:latin typeface="DejaVu Sans"/>
              </a:defRPr>
            </a:pPr>
            <a:r>
              <a:t>Same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240280"/>
            <a:ext cx="9875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0">
                <a:solidFill>
                  <a:srgbClr val="142E43"/>
                </a:solidFill>
                <a:latin typeface="DejaVu Sans"/>
              </a:defRPr>
            </a:pPr>
            <a:r>
              <a:t>Same training files and held-out voxel locations.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2953511"/>
            <a:ext cx="457200" cy="45720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274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07791"/>
            <a:ext cx="98755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7F83"/>
                </a:solidFill>
                <a:latin typeface="DejaVu Sans"/>
              </a:defRPr>
            </a:pPr>
            <a:r>
              <a:t>Same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10711"/>
            <a:ext cx="9875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0">
                <a:solidFill>
                  <a:srgbClr val="142E43"/>
                </a:solidFill>
                <a:latin typeface="DejaVu Sans"/>
              </a:defRPr>
            </a:pPr>
            <a:r>
              <a:t>Same primary events, including zero-hit runs.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4123944"/>
            <a:ext cx="457200" cy="457200"/>
          </a:xfrm>
          <a:prstGeom prst="ellipse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169663"/>
            <a:ext cx="2743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78224"/>
            <a:ext cx="98755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7F83"/>
                </a:solidFill>
                <a:latin typeface="DejaVu Sans"/>
              </a:defRPr>
            </a:pPr>
            <a:r>
              <a:t>Three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81144"/>
            <a:ext cx="987552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20"/>
              </a:lnSpc>
              <a:spcAft>
                <a:spcPts val="0"/>
              </a:spcAft>
              <a:defRPr sz="2100" b="0">
                <a:solidFill>
                  <a:srgbClr val="142E43"/>
                </a:solidFill>
                <a:latin typeface="DejaVu Sans"/>
              </a:defRPr>
            </a:pPr>
            <a:r>
              <a:t>Are means accurate, intervals useful, and nearby voxels predicted well?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Use the binomial GP as the simple baseline; retain RESuM if its extra information improves matched tests.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STATISTICAL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Binomial GP: the statistical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691640"/>
            <a:ext cx="548640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91640"/>
            <a:ext cx="64008" cy="32461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44"/>
              </a:lnSpc>
              <a:spcAft>
                <a:spcPts val="0"/>
              </a:spcAft>
              <a:defRPr sz="1787" b="1">
                <a:solidFill>
                  <a:srgbClr val="007F83"/>
                </a:solidFill>
                <a:latin typeface="DejaVu Sans"/>
              </a:defRPr>
            </a:pPr>
            <a:r>
              <a:t>Prior: how probabilities vary in 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5029200" cy="2377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f(s) ~ GP(0, k)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p(s) = sigmoid[f(s)]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kernel k links nearby locations.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The sigmoid keeps 0 &lt; p &lt; 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30352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91640"/>
            <a:ext cx="64008" cy="32461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4"/>
              </a:lnSpc>
              <a:spcAft>
                <a:spcPts val="0"/>
              </a:spcAft>
              <a:defRPr sz="1745" b="1">
                <a:solidFill>
                  <a:srgbClr val="007F83"/>
                </a:solidFill>
                <a:latin typeface="DejaVu Sans"/>
              </a:defRPr>
            </a:pPr>
            <a:r>
              <a:t>Likelihood: how counts are produced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32888"/>
            <a:ext cx="4846320" cy="2377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mᵢ | p(sᵢ), Nᵢ ~ Binomial(Nᵢ, p(sᵢ))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Each file contributes its count and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budget.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Conditional counting variance: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Var(mᵢ / Nᵢ | p) = p(1 − p) / Nᵢ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7899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Posterior = prior spatial model updated by all observed 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Implemented inference: Laplace approximation; kernel parameters fitted on training data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STATISTICAL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RESuM: the statistical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691640"/>
            <a:ext cx="548640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91640"/>
            <a:ext cx="64008" cy="32461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35"/>
              </a:lnSpc>
              <a:spcAft>
                <a:spcPts val="0"/>
              </a:spcAft>
              <a:defRPr sz="2113" b="1">
                <a:solidFill>
                  <a:srgbClr val="007F83"/>
                </a:solidFill>
                <a:latin typeface="DejaVu Sans"/>
              </a:defRPr>
            </a:pPr>
            <a:r>
              <a:t>1 CNP: learn event probabilities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5029200" cy="2377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qⱼ = CNP-predicted hit probability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bᵢ = average of qⱼ within voxel i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Current training uses Bernoulli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cross-entropy, with mixup.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30352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91640"/>
            <a:ext cx="64008" cy="32461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5"/>
              </a:lnSpc>
              <a:spcAft>
                <a:spcPts val="0"/>
              </a:spcAft>
              <a:defRPr sz="1837" b="1">
                <a:solidFill>
                  <a:srgbClr val="007F83"/>
                </a:solidFill>
                <a:latin typeface="DejaVu Sans"/>
              </a:defRPr>
            </a:pPr>
            <a:r>
              <a:t>2 MFGP: link the spatial summaries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32888"/>
            <a:ext cx="4846320" cy="2377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gₗ(s) = ρₗ gₗ₋₁(s) + δₗ(s)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zₗ(s) = gₗ(s) + εₗ, εₗ ~ Normal(0, σₗ²)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ρ links levels; δ is a GP correction.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σₗ² is learned noise for each level.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48072"/>
            <a:ext cx="109728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1"/>
              </a:lnSpc>
              <a:spcAft>
                <a:spcPts val="0"/>
              </a:spcAft>
              <a:defRPr sz="2151" b="1">
                <a:solidFill>
                  <a:srgbClr val="007F83"/>
                </a:solidFill>
                <a:latin typeface="DejaVu Sans"/>
              </a:defRPr>
            </a:pPr>
            <a:r>
              <a:t>Three log-space outputs: LF CNP mean • HF CNP mean • HF raw rate*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* HF training rates are smoothed before taking logs. The MFGP likelihood is Gaussian, not binomial.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APPENDIX •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66"/>
              </a:lnSpc>
              <a:spcAft>
                <a:spcPts val="0"/>
              </a:spcAft>
              <a:defRPr sz="2638" b="1">
                <a:solidFill>
                  <a:srgbClr val="142E43"/>
                </a:solidFill>
                <a:latin typeface="DejaVu Sans"/>
              </a:defRPr>
            </a:pPr>
            <a:r>
              <a:t>Technical appendix: probability and counting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37360"/>
            <a:ext cx="54864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5029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1 Spatial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50292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f(s) ~ GP(0, k)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p(s) = 1 / [1 + exp(−f(s))]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30352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64008" cy="19659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48463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2 Counts at each voxel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78608"/>
            <a:ext cx="484632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mᵢ ~ Binomial(Nᵢ, p(sᵢ))</a:t>
            </a: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142E43"/>
                </a:solidFill>
                <a:latin typeface="DejaVu Sans"/>
              </a:defRPr>
            </a:pPr>
            <a:r>
              <a:t>Nᵢ is known; p(sᵢ) is inferred.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79"/>
              </a:lnSpc>
              <a:spcAft>
                <a:spcPts val="0"/>
              </a:spcAft>
              <a:defRPr sz="2400" b="1">
                <a:solidFill>
                  <a:srgbClr val="142E43"/>
                </a:solidFill>
                <a:latin typeface="DejaVu Sans"/>
              </a:defRPr>
            </a:pPr>
            <a:r>
              <a:t>Predicted fraction variance at an exact location: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105156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007F83"/>
                </a:solidFill>
                <a:latin typeface="DejaVu Sans"/>
              </a:defRPr>
            </a:pPr>
            <a:r>
              <a:t>Var(R | s, D) = Var(P | s, D) + E[P(1 − P) | s, D] /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First term: uncertainty in the map. Second term: counting noise. Inference uses a Laplace approximation.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APPENDIX •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Technical appendix: the saved runs differ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253996" cy="530352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057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2788920" y="1691640"/>
            <a:ext cx="4174235" cy="530352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1" y="1810512"/>
            <a:ext cx="397763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Saved RESuM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59" y="1691640"/>
            <a:ext cx="4631436" cy="530352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1" y="1810512"/>
            <a:ext cx="4434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Saved binomial GP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58568"/>
            <a:ext cx="225399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368296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LF training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258568"/>
            <a:ext cx="4174235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1" y="2368296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159 nonzero N1500 voxels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59" y="2258568"/>
            <a:ext cx="463143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4031" y="2368296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760 across N500–N1500; includes zeros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71800"/>
            <a:ext cx="225399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081528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HF training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971800"/>
            <a:ext cx="4174235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7791" y="3081528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10 nonzero voxels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59" y="2971800"/>
            <a:ext cx="463143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1" y="3081528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10 voxels, including 1 zero-hit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85032"/>
            <a:ext cx="225399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794760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HF validation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685032"/>
            <a:ext cx="4174235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7791" y="3794760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46 nonzero voxels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95159" y="3685032"/>
            <a:ext cx="4631436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4031" y="3794760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55 voxels, including 8 zero-hit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98264"/>
            <a:ext cx="225399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507992"/>
            <a:ext cx="205740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HF primary budget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398264"/>
            <a:ext cx="4174235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07791" y="4507992"/>
            <a:ext cx="3977639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4936 after context removal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95159" y="4398264"/>
            <a:ext cx="4631436" cy="690372"/>
          </a:xfrm>
          <a:prstGeom prst="rect">
            <a:avLst/>
          </a:prstGeom>
          <a:solidFill>
            <a:srgbClr val="E8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14031" y="4507992"/>
            <a:ext cx="4434840" cy="6035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142E43"/>
                </a:solidFill>
                <a:latin typeface="DejaVu Sans"/>
              </a:defRPr>
            </a:pPr>
            <a:r>
              <a:t>Full 5000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85216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536777"/>
                </a:solidFill>
                <a:latin typeface="DejaVu Sans"/>
              </a:defRPr>
            </a:pPr>
            <a:r>
              <a:t>Different data and targets can change results independently of the modeling approach.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01752"/>
            <a:ext cx="10972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7F83"/>
                </a:solidFill>
                <a:latin typeface="DejaVu Sans"/>
              </a:defRPr>
            </a:pPr>
            <a:r>
              <a:t>APPENDIX •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2471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42E43"/>
                </a:solidFill>
                <a:latin typeface="DejaVu Sans"/>
              </a:defRPr>
            </a:pPr>
            <a:r>
              <a:t>References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64224"/>
            <a:ext cx="11155680" cy="13716"/>
          </a:xfrm>
          <a:prstGeom prst="rect">
            <a:avLst/>
          </a:prstGeom>
          <a:solidFill>
            <a:srgbClr val="D6E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91440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LAr optical map • From simulated events to detection probability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536777"/>
                </a:solidFill>
                <a:latin typeface="DejaVu Sans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10972800" cy="2194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Conditional Neural Processes — Garnelo et al. (2018)</a:t>
            </a: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https://proceedings.mlr.press/v80/garnelo18a.html</a:t>
            </a: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Gaussian Processes for Machine Learning — Rasmussen &amp; Williams, Ch. 3</a:t>
            </a:r>
          </a:p>
          <a:p>
            <a:pPr>
              <a:lnSpc>
                <a:spcPts val="2280"/>
              </a:lnSpc>
              <a:spcAft>
                <a:spcPts val="0"/>
              </a:spcAft>
              <a:defRPr sz="1900" b="0">
                <a:solidFill>
                  <a:srgbClr val="142E43"/>
                </a:solidFill>
                <a:latin typeface="DejaVu Sans"/>
              </a:defRPr>
            </a:pPr>
            <a:r>
              <a:t>https://gaussianprocess.org/gpml/chapters/RW3.pdf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72000"/>
            <a:ext cx="109728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60"/>
              </a:lnSpc>
              <a:spcAft>
                <a:spcPts val="0"/>
              </a:spcAft>
              <a:defRPr sz="2300" b="1">
                <a:solidFill>
                  <a:srgbClr val="007F83"/>
                </a:solidFill>
                <a:latin typeface="DejaVu Sans"/>
              </a:defRPr>
            </a:pPr>
            <a:r>
              <a:t>Local implementation and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120640"/>
            <a:ext cx="1097280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RESUM_FLEX: core/binomial_gp.py and core/surrogates/mfgp_stage.py</a:t>
            </a:r>
          </a:p>
          <a:p>
            <a:pPr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142E43"/>
                </a:solidFill>
                <a:latin typeface="DejaVu Sans"/>
              </a:defRPr>
            </a:pPr>
            <a:r>
              <a:t>Count-GP run 20261001T173754_521023Z • RESuM run 20260930T195141_282030Z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 optical map | Binomial GP and RESuM</dc:title>
  <dc:subject>Count likelihood, population inference, uncertainty and model comparison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