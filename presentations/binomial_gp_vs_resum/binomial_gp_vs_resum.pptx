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the objective is a population-level optical detection map. The grids are schematic, not reconstructed simulation outputs. Different color intensities stand for different probabilities. Most voxels have no direct simulation. Explain voxel as a small volume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Illustrative example: 1000 independent simulated primary events, three of which produce at least one selected optical hit. A hit-producing primary counts once even if it creates multiple optical hits. Do not confuse m with the total number of detected photons.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 only. Assume a fixed underlying probability p=0.003 and N=1000; results of 0, 2 or 5 detections are possible binomial outcomes. No physics change is needed. These are not actual repeat measurements from the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RESuM uses the CNP to learn from event features and context, then supplies averaged predictions to a multifidelity GP alongside raw HF fractions. The count GP uses coordinates and integer counts directly. Both infer spatial structure from sparse locations; neither is a physics solver.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Conceptual inference diagram. Nearby voxels can have different true probabilities; smoothness comes from the GP kernel, not a requirement that adjacent probabilities be equal. N=500,m=1 and N=5000,m=15 are illustrative inputs compatible with a low detection probability. The model combines spatial similarity with count likelihoods.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 binomial probabilities for fixed p=0.003 at N=500 and N=5000. Bars are probability masses for discrete observed fractions; their spacing differs with N. Dashed line marks the same underlying probability 0.3% in both panels. The GP uses N in the likelihood rather than requiring hand-tuned per-file class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Illustrative arithmetic: five equal-budget simulations with counts 0,0,1,1,3 contain five detections in 5000 events. Keeping only the three positive files retains five detections but only 3000 events. This demonstrates an upward selection effect; it does not prove the true probability equals the full sample estimate. Actual count-GP HF data now include zero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Latent uncertainty concerns the underlying probability field. Predictive uncertainty for a repeated simulation includes that uncertainty plus finite-N binomial counting variation. Schematic intervals are illustrative and not fitted values. Posterior hyperparameter uncertainty is not included by the current plug-in Laplace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CNP learns event-level structure conditioned on context; averaged event predictions can reduce random fluctuations if the learned model is useful. Denoising is a potential benefit, not guaranteed unbiased estimation. Current LF class-aware mixup including context can affect mean calibration. CNP uncertainty is not fully propagated through the current MFGP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direct count GP is the simpler statistical baseline for identical physics with variable statistics. It deliberately does not exploit event covariates. A valid comparison requires matching held-out locations and raw count targets. GP smoothness, finite spatial support, binomial assumptions and approximate posterior inference remain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Actual saved run: outputs/optical_binomial/20261001T173754_521023Z. One dot per held-out HF voxel, all N=5000. Mean absolute error 0.000679715 as a fraction equals 0.0679715 percentage points. 95.45% nominal interval includes51of55. Pearson0.849. Different training and validation data prevent comparison with saved RESuM run as a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Recommendations for future evaluation, not claimed completed. Current count run uses760 LF and10HF training plus55HFvalidation; saved RESuM run used159LF and10HFtraining plus46HFvalidation. Original target budgets differ. Dense local sampling is a scientific design recommendation, not a proven optimal voxel arrangement.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GPML chapter3 supports logistic Gaussian processes and Laplace approximation. The current grouped binomial model uses event counts directly. GP prior is Matérn5/2+Bias, ARD lengthscales; RBF optional. It assumes independent primary detections within each voxel population. Hyperparameters are optimized rather than marginalized.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 artifact directories: outputs/optical_binomial/20261001T173754_521023Z and outputs/optical_resum/notebook/20260930T195141_282030Z. Counts and split information verified from saved artifacts. Nonzero-only LF selection affects the older workflow. These snapshots should not be interpreted as matched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Primary references are background for CNPs and logistic GP inference. Implementation-specific statements are verified against the local RESUM_FLEX source, not attributed to these papers. All colored grid diagrams, sample counts and distributions in the main deck are illustrative except the saved-run scatterplot. No new model was trained for these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40"/>
              </a:lnSpc>
              <a:spcAft>
                <a:spcPts val="0"/>
              </a:spcAft>
              <a:defRPr sz="2950" b="1">
                <a:solidFill>
                  <a:srgbClr val="142E43"/>
                </a:solidFill>
                <a:latin typeface="DejaVu Sans"/>
              </a:defRPr>
            </a:pPr>
            <a:r>
              <a:t>How can we predict light detection across the tank?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691640"/>
            <a:ext cx="3383280" cy="5029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83080"/>
            <a:ext cx="3163824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DejaVu Sans"/>
              </a:defRPr>
            </a:pPr>
            <a:r>
              <a:t>What we have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1691640"/>
            <a:ext cx="3383280" cy="5029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2088" y="1783080"/>
            <a:ext cx="3163824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DejaVu Sans"/>
              </a:defRPr>
            </a:pPr>
            <a:r>
              <a:t>What we want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242316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27048" y="242316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11095" y="242316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95144" y="242316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79191" y="242316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63240" y="242316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47288" y="242316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280720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27048" y="2807208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11095" y="280720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95144" y="280720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79191" y="280720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063240" y="280720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47288" y="280720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3191256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27048" y="3191256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11095" y="3191256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95144" y="3191256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679191" y="3191256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63240" y="3191256"/>
            <a:ext cx="352044" cy="352044"/>
          </a:xfrm>
          <a:prstGeom prst="rect">
            <a:avLst/>
          </a:prstGeom>
          <a:solidFill>
            <a:srgbClr val="288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47288" y="3191256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000" y="3575304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27048" y="3575304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11095" y="3575304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95144" y="3575304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79191" y="3575304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63240" y="3575304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47288" y="3575304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43000" y="3959352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527048" y="3959352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11095" y="3959352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95144" y="3959352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679191" y="3959352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063240" y="3959352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47288" y="3959352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" y="434340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527048" y="434340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911095" y="434340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95144" y="4343400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79191" y="434340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063240" y="434340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47288" y="434340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43000" y="472744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527048" y="472744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11095" y="472744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295144" y="472744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679191" y="472744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063240" y="472744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447288" y="4727448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49240" y="3291840"/>
            <a:ext cx="777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0"/>
              </a:lnSpc>
              <a:spcAft>
                <a:spcPts val="0"/>
              </a:spcAft>
              <a:defRPr sz="3200" b="1">
                <a:solidFill>
                  <a:srgbClr val="007F83"/>
                </a:solidFill>
                <a:latin typeface="DejaVu Sans"/>
              </a:defRPr>
            </a:pPr>
            <a:r>
              <a:t>→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63840" y="2423160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47888" y="2423160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631936" y="2423160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015984" y="2423160"/>
            <a:ext cx="352044" cy="352044"/>
          </a:xfrm>
          <a:prstGeom prst="rect">
            <a:avLst/>
          </a:prstGeom>
          <a:solidFill>
            <a:srgbClr val="288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400032" y="2423160"/>
            <a:ext cx="352044" cy="352044"/>
          </a:xfrm>
          <a:prstGeom prst="rect">
            <a:avLst/>
          </a:prstGeom>
          <a:solidFill>
            <a:srgbClr val="288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784080" y="2423160"/>
            <a:ext cx="352044" cy="352044"/>
          </a:xfrm>
          <a:prstGeom prst="rect">
            <a:avLst/>
          </a:prstGeom>
          <a:solidFill>
            <a:srgbClr val="288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168128" y="2423160"/>
            <a:ext cx="352044" cy="352044"/>
          </a:xfrm>
          <a:prstGeom prst="rect">
            <a:avLst/>
          </a:prstGeom>
          <a:solidFill>
            <a:srgbClr val="0071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863840" y="2807208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47888" y="2807208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631936" y="2807208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2807208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400032" y="2807208"/>
            <a:ext cx="352044" cy="352044"/>
          </a:xfrm>
          <a:prstGeom prst="rect">
            <a:avLst/>
          </a:prstGeom>
          <a:solidFill>
            <a:srgbClr val="288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784080" y="2807208"/>
            <a:ext cx="352044" cy="352044"/>
          </a:xfrm>
          <a:prstGeom prst="rect">
            <a:avLst/>
          </a:prstGeom>
          <a:solidFill>
            <a:srgbClr val="288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168128" y="2807208"/>
            <a:ext cx="352044" cy="352044"/>
          </a:xfrm>
          <a:prstGeom prst="rect">
            <a:avLst/>
          </a:prstGeom>
          <a:solidFill>
            <a:srgbClr val="288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863840" y="3191256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247888" y="3191256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31936" y="3191256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015984" y="3191256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400032" y="3191256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784080" y="3191256"/>
            <a:ext cx="352044" cy="352044"/>
          </a:xfrm>
          <a:prstGeom prst="rect">
            <a:avLst/>
          </a:prstGeom>
          <a:solidFill>
            <a:srgbClr val="288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168128" y="3191256"/>
            <a:ext cx="352044" cy="352044"/>
          </a:xfrm>
          <a:prstGeom prst="rect">
            <a:avLst/>
          </a:prstGeom>
          <a:solidFill>
            <a:srgbClr val="288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863840" y="3575304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247888" y="3575304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31936" y="3575304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015984" y="3575304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400032" y="3575304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784080" y="3575304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168128" y="3575304"/>
            <a:ext cx="352044" cy="352044"/>
          </a:xfrm>
          <a:prstGeom prst="rect">
            <a:avLst/>
          </a:prstGeom>
          <a:solidFill>
            <a:srgbClr val="288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863840" y="3959352"/>
            <a:ext cx="352044" cy="352044"/>
          </a:xfrm>
          <a:prstGeom prst="rect">
            <a:avLst/>
          </a:prstGeom>
          <a:solidFill>
            <a:srgbClr val="DAE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247888" y="3959352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631936" y="3959352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015984" y="3959352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400032" y="3959352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784080" y="3959352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168128" y="3959352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863840" y="4343400"/>
            <a:ext cx="352044" cy="352044"/>
          </a:xfrm>
          <a:prstGeom prst="rect">
            <a:avLst/>
          </a:prstGeom>
          <a:solidFill>
            <a:srgbClr val="DAE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247888" y="4343400"/>
            <a:ext cx="352044" cy="352044"/>
          </a:xfrm>
          <a:prstGeom prst="rect">
            <a:avLst/>
          </a:prstGeom>
          <a:solidFill>
            <a:srgbClr val="DAE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631936" y="4343400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015984" y="4343400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400032" y="4343400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784080" y="4343400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168128" y="4343400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863840" y="4727448"/>
            <a:ext cx="352044" cy="352044"/>
          </a:xfrm>
          <a:prstGeom prst="rect">
            <a:avLst/>
          </a:prstGeom>
          <a:solidFill>
            <a:srgbClr val="DAE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8247888" y="4727448"/>
            <a:ext cx="352044" cy="352044"/>
          </a:xfrm>
          <a:prstGeom prst="rect">
            <a:avLst/>
          </a:prstGeom>
          <a:solidFill>
            <a:srgbClr val="DAE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631936" y="4727448"/>
            <a:ext cx="352044" cy="352044"/>
          </a:xfrm>
          <a:prstGeom prst="rect">
            <a:avLst/>
          </a:prstGeom>
          <a:solidFill>
            <a:srgbClr val="DAE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015984" y="4727448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400032" y="4727448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784080" y="4727448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168128" y="4727448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77240" y="5257800"/>
            <a:ext cx="42976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75"/>
              </a:lnSpc>
              <a:spcAft>
                <a:spcPts val="0"/>
              </a:spcAft>
              <a:defRPr sz="2229" b="1">
                <a:solidFill>
                  <a:srgbClr val="142E43"/>
                </a:solidFill>
                <a:latin typeface="DejaVu Sans"/>
              </a:defRPr>
            </a:pPr>
            <a:r>
              <a:t>A few simulated locations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132320" y="5257800"/>
            <a:ext cx="45720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8"/>
              </a:lnSpc>
              <a:spcAft>
                <a:spcPts val="0"/>
              </a:spcAft>
              <a:defRPr sz="2007" b="1">
                <a:solidFill>
                  <a:srgbClr val="142E43"/>
                </a:solidFill>
                <a:latin typeface="DejaVu Sans"/>
              </a:defRPr>
            </a:pPr>
            <a:r>
              <a:t>A probability at every location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Each square represents a voxel: one small region of the liquid argon. Schematic illustration.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One simulation tells us a count and a budget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45920"/>
            <a:ext cx="5852160" cy="5029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5632704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DejaVu Sans"/>
              </a:defRPr>
            </a:pPr>
            <a:r>
              <a:t>One voxel • 1,000 simulated events</a:t>
            </a:r>
          </a:p>
        </p:txBody>
      </p:sp>
      <p:sp>
        <p:nvSpPr>
          <p:cNvPr id="11" name="Oval 10"/>
          <p:cNvSpPr/>
          <p:nvPr/>
        </p:nvSpPr>
        <p:spPr>
          <a:xfrm>
            <a:off x="749808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77824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33856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61872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89888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17904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45920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73936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901952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29968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57984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86000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14016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542032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70048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98064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926080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054096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182112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310128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438144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566160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694176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822192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950208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078224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206240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334256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462272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590288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718304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846320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974336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102352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230368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358384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486400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614416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42432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49808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77824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05840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133856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261872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89888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517904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645920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773936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901952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029968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157984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286000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414016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542032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670048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798064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926080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054096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182112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310128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438144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566160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694176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822192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950208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078224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206240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4334256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462272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590288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718304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846320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74336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102352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5230368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358384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486400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614416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742432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49808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77824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005840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133856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261872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389888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517904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645920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773936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901952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029968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2157984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2286000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2414016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2542032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670048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798064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926080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054096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3182112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310128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438144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66160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694176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3822192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3950208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078224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206240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334256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4462272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4590288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4718304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846320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974336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5102352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5230368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358384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5486400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614416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742432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49808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77824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5840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33856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261872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389888" y="2693822"/>
            <a:ext cx="73152" cy="73152"/>
          </a:xfrm>
          <a:prstGeom prst="ellipse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517904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645920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773936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901952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2029968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2157984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2286000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414016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542032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2670048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2798064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2926080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3054096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3182112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310128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438144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566160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3694176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3822192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950208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4078224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4206240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4334256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4462272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4590288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4718304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4846320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4974336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5102352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5230368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5358384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5486400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5614416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5742432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749808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877824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005840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33856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261872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389888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517904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645920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773936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901952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029968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157984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286000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2414016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2542032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670048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2798064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926080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054096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3182112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310128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3438144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3566160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694176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822192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3950208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4078224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4206240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4334256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4462272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590288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718304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4846320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974336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5102352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5230368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358384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5486400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614416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742432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749808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877824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005840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133856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261872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389888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17904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645920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773936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901952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029968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2157984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2286000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2414016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2542032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2670048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2798064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2926080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3054096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3182112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3310128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3438144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3566160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3694176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3822192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3950208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4078224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4206240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334256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4462272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4590288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4718304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4846320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4974336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5102352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5230368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5358384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5486400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5614416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5742432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749808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877824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005840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133856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261872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389888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517904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645920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773936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901952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2029968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2157984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2286000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2414016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2542032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2670048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2798064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2926080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3054096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3182112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3310128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3438144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3566160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3694176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3822192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3950208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4078224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4206240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4334256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4462272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4590288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4718304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4846320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4974336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5102352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5230368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5358384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5486400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5614416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742432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749808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877824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1005840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1133856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1261872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1389888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1517904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1645920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1773936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1901952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29968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157984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286000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414016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542032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670048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798064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926080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3054096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3182112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3310128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3438144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3566160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3694176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3822192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3950208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4078224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4206240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4334256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4462272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4590288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4718304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4846320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4974336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5102352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5230368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5358384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5486400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5614416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5742432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749808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877824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1005840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1133856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1261872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1389888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1517904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1645920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1773936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1901952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029968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157984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286000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414016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542032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670048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798064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926080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3054096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3182112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3310128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3438144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3566160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3694176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3822192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3950208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4078224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4206240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4334256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4462272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4590288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4718304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4846320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4974336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5102352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5230368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5358384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5486400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5614416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5742432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749808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877824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1005840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1133856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1261872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1389888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1517904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1645920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1773936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1901952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029968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157984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286000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414016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42032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70048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798064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926080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3054096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3182112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3310128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3438144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3566160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3694176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3822192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3950208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4078224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4206240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4334256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4462272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4590288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4718304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4846320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4974336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5102352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5230368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5358384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5486400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5614416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5742432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749808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877824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1005840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1133856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1261872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1389888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1517904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645920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773936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1901952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029968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157984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286000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414016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542032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670048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798064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26080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054096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3182112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3310128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3438144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3566160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694176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822192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950208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4078224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4206240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4334256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4462272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4590288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4718304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4846320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4974336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5102352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5230368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5358384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5486400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5614416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5742432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749808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877824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1005840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133856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261872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1389888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517904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1645920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1773936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901952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2029968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2157984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2286000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2414016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2542032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2670048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2798064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2926080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054096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182112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310128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438144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566160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694176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822192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950208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4078224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4206240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4334256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4462272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4590288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4718304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4846320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4974336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5102352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5230368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5358384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5486400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5614416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5742432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749808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877824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005840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1133856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1261872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1389888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1517904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645920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1773936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1901952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2029968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2157984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2286000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2414016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2542032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2670048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2798064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2926080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3054096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3182112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3310128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3438144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3566160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3694176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3822192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3950208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4078224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4206240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4334256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4462272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4590288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4718304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4846320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4974336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5102352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5230368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5358384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5486400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5614416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5742432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749808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877824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1005840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1133856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1261872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1389888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1517904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1645920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1773936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1901952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2029968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2157984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2286000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2414016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xfrm>
            <a:off x="2542032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2670048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2798064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2926080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3054096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3182112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3310128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3438144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3566160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3694176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3822192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3950208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4078224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4206240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4334256" y="3717950"/>
            <a:ext cx="73152" cy="73152"/>
          </a:xfrm>
          <a:prstGeom prst="ellipse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4462272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4590288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4718304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4846320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4974336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5102352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5230368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5358384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5486400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5614416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5742432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749808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877824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1005840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1133856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1261872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1389888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1517904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1645920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1773936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1901952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2029968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2157984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2286000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2414016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2542032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2670048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2798064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2926080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3054096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3182112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3310128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3438144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3566160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3694176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Oval 594"/>
          <p:cNvSpPr/>
          <p:nvPr/>
        </p:nvSpPr>
        <p:spPr>
          <a:xfrm>
            <a:off x="3822192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xfrm>
            <a:off x="3950208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4078224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4206240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4334256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xfrm>
            <a:off x="4462272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4590288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4718304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xfrm>
            <a:off x="4846320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4974336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xfrm>
            <a:off x="5102352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Oval 605"/>
          <p:cNvSpPr/>
          <p:nvPr/>
        </p:nvSpPr>
        <p:spPr>
          <a:xfrm>
            <a:off x="5230368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xfrm>
            <a:off x="5358384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5486400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xfrm>
            <a:off x="5614416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xfrm>
            <a:off x="5742432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xfrm>
            <a:off x="749808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xfrm>
            <a:off x="877824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Oval 612"/>
          <p:cNvSpPr/>
          <p:nvPr/>
        </p:nvSpPr>
        <p:spPr>
          <a:xfrm>
            <a:off x="1005840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xfrm>
            <a:off x="1133856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xfrm>
            <a:off x="1261872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Oval 615"/>
          <p:cNvSpPr/>
          <p:nvPr/>
        </p:nvSpPr>
        <p:spPr>
          <a:xfrm>
            <a:off x="1389888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xfrm>
            <a:off x="1517904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xfrm>
            <a:off x="1645920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Oval 618"/>
          <p:cNvSpPr/>
          <p:nvPr/>
        </p:nvSpPr>
        <p:spPr>
          <a:xfrm>
            <a:off x="1773936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xfrm>
            <a:off x="1901952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xfrm>
            <a:off x="2029968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xfrm>
            <a:off x="2157984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2286000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2414016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2542032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2670048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2798064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xfrm>
            <a:off x="2926080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3054096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3182112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xfrm>
            <a:off x="3310128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3438144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3566160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xfrm>
            <a:off x="3694176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3822192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3950208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xfrm>
            <a:off x="4078224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xfrm>
            <a:off x="4206240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xfrm>
            <a:off x="4334256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xfrm>
            <a:off x="4462272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xfrm>
            <a:off x="4590288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xfrm>
            <a:off x="4718304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xfrm>
            <a:off x="4846320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xfrm>
            <a:off x="4974336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xfrm>
            <a:off x="5102352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xfrm>
            <a:off x="5230368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Oval 646"/>
          <p:cNvSpPr/>
          <p:nvPr/>
        </p:nvSpPr>
        <p:spPr>
          <a:xfrm>
            <a:off x="5358384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Oval 647"/>
          <p:cNvSpPr/>
          <p:nvPr/>
        </p:nvSpPr>
        <p:spPr>
          <a:xfrm>
            <a:off x="5486400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Oval 648"/>
          <p:cNvSpPr/>
          <p:nvPr/>
        </p:nvSpPr>
        <p:spPr>
          <a:xfrm>
            <a:off x="5614416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Oval 649"/>
          <p:cNvSpPr/>
          <p:nvPr/>
        </p:nvSpPr>
        <p:spPr>
          <a:xfrm>
            <a:off x="5742432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Oval 650"/>
          <p:cNvSpPr/>
          <p:nvPr/>
        </p:nvSpPr>
        <p:spPr>
          <a:xfrm>
            <a:off x="749808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Oval 651"/>
          <p:cNvSpPr/>
          <p:nvPr/>
        </p:nvSpPr>
        <p:spPr>
          <a:xfrm>
            <a:off x="877824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Oval 652"/>
          <p:cNvSpPr/>
          <p:nvPr/>
        </p:nvSpPr>
        <p:spPr>
          <a:xfrm>
            <a:off x="1005840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Oval 653"/>
          <p:cNvSpPr/>
          <p:nvPr/>
        </p:nvSpPr>
        <p:spPr>
          <a:xfrm>
            <a:off x="1133856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Oval 654"/>
          <p:cNvSpPr/>
          <p:nvPr/>
        </p:nvSpPr>
        <p:spPr>
          <a:xfrm>
            <a:off x="1261872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Oval 655"/>
          <p:cNvSpPr/>
          <p:nvPr/>
        </p:nvSpPr>
        <p:spPr>
          <a:xfrm>
            <a:off x="1389888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Oval 656"/>
          <p:cNvSpPr/>
          <p:nvPr/>
        </p:nvSpPr>
        <p:spPr>
          <a:xfrm>
            <a:off x="1517904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Oval 657"/>
          <p:cNvSpPr/>
          <p:nvPr/>
        </p:nvSpPr>
        <p:spPr>
          <a:xfrm>
            <a:off x="1645920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Oval 658"/>
          <p:cNvSpPr/>
          <p:nvPr/>
        </p:nvSpPr>
        <p:spPr>
          <a:xfrm>
            <a:off x="1773936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Oval 659"/>
          <p:cNvSpPr/>
          <p:nvPr/>
        </p:nvSpPr>
        <p:spPr>
          <a:xfrm>
            <a:off x="1901952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Oval 660"/>
          <p:cNvSpPr/>
          <p:nvPr/>
        </p:nvSpPr>
        <p:spPr>
          <a:xfrm>
            <a:off x="2029968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Oval 661"/>
          <p:cNvSpPr/>
          <p:nvPr/>
        </p:nvSpPr>
        <p:spPr>
          <a:xfrm>
            <a:off x="2157984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Oval 662"/>
          <p:cNvSpPr/>
          <p:nvPr/>
        </p:nvSpPr>
        <p:spPr>
          <a:xfrm>
            <a:off x="2286000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Oval 663"/>
          <p:cNvSpPr/>
          <p:nvPr/>
        </p:nvSpPr>
        <p:spPr>
          <a:xfrm>
            <a:off x="2414016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Oval 664"/>
          <p:cNvSpPr/>
          <p:nvPr/>
        </p:nvSpPr>
        <p:spPr>
          <a:xfrm>
            <a:off x="2542032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Oval 665"/>
          <p:cNvSpPr/>
          <p:nvPr/>
        </p:nvSpPr>
        <p:spPr>
          <a:xfrm>
            <a:off x="2670048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Oval 666"/>
          <p:cNvSpPr/>
          <p:nvPr/>
        </p:nvSpPr>
        <p:spPr>
          <a:xfrm>
            <a:off x="2798064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Oval 667"/>
          <p:cNvSpPr/>
          <p:nvPr/>
        </p:nvSpPr>
        <p:spPr>
          <a:xfrm>
            <a:off x="2926080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Oval 668"/>
          <p:cNvSpPr/>
          <p:nvPr/>
        </p:nvSpPr>
        <p:spPr>
          <a:xfrm>
            <a:off x="3054096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Oval 669"/>
          <p:cNvSpPr/>
          <p:nvPr/>
        </p:nvSpPr>
        <p:spPr>
          <a:xfrm>
            <a:off x="3182112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Oval 670"/>
          <p:cNvSpPr/>
          <p:nvPr/>
        </p:nvSpPr>
        <p:spPr>
          <a:xfrm>
            <a:off x="3310128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Oval 671"/>
          <p:cNvSpPr/>
          <p:nvPr/>
        </p:nvSpPr>
        <p:spPr>
          <a:xfrm>
            <a:off x="3438144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Oval 672"/>
          <p:cNvSpPr/>
          <p:nvPr/>
        </p:nvSpPr>
        <p:spPr>
          <a:xfrm>
            <a:off x="3566160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Oval 673"/>
          <p:cNvSpPr/>
          <p:nvPr/>
        </p:nvSpPr>
        <p:spPr>
          <a:xfrm>
            <a:off x="3694176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Oval 674"/>
          <p:cNvSpPr/>
          <p:nvPr/>
        </p:nvSpPr>
        <p:spPr>
          <a:xfrm>
            <a:off x="3822192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Oval 675"/>
          <p:cNvSpPr/>
          <p:nvPr/>
        </p:nvSpPr>
        <p:spPr>
          <a:xfrm>
            <a:off x="3950208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Oval 676"/>
          <p:cNvSpPr/>
          <p:nvPr/>
        </p:nvSpPr>
        <p:spPr>
          <a:xfrm>
            <a:off x="4078224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Oval 677"/>
          <p:cNvSpPr/>
          <p:nvPr/>
        </p:nvSpPr>
        <p:spPr>
          <a:xfrm>
            <a:off x="4206240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Oval 678"/>
          <p:cNvSpPr/>
          <p:nvPr/>
        </p:nvSpPr>
        <p:spPr>
          <a:xfrm>
            <a:off x="4334256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Oval 679"/>
          <p:cNvSpPr/>
          <p:nvPr/>
        </p:nvSpPr>
        <p:spPr>
          <a:xfrm>
            <a:off x="4462272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Oval 680"/>
          <p:cNvSpPr/>
          <p:nvPr/>
        </p:nvSpPr>
        <p:spPr>
          <a:xfrm>
            <a:off x="4590288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Oval 681"/>
          <p:cNvSpPr/>
          <p:nvPr/>
        </p:nvSpPr>
        <p:spPr>
          <a:xfrm>
            <a:off x="4718304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Oval 682"/>
          <p:cNvSpPr/>
          <p:nvPr/>
        </p:nvSpPr>
        <p:spPr>
          <a:xfrm>
            <a:off x="4846320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Oval 683"/>
          <p:cNvSpPr/>
          <p:nvPr/>
        </p:nvSpPr>
        <p:spPr>
          <a:xfrm>
            <a:off x="4974336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Oval 684"/>
          <p:cNvSpPr/>
          <p:nvPr/>
        </p:nvSpPr>
        <p:spPr>
          <a:xfrm>
            <a:off x="5102352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Oval 685"/>
          <p:cNvSpPr/>
          <p:nvPr/>
        </p:nvSpPr>
        <p:spPr>
          <a:xfrm>
            <a:off x="5230368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Oval 686"/>
          <p:cNvSpPr/>
          <p:nvPr/>
        </p:nvSpPr>
        <p:spPr>
          <a:xfrm>
            <a:off x="5358384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Oval 687"/>
          <p:cNvSpPr/>
          <p:nvPr/>
        </p:nvSpPr>
        <p:spPr>
          <a:xfrm>
            <a:off x="5486400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Oval 688"/>
          <p:cNvSpPr/>
          <p:nvPr/>
        </p:nvSpPr>
        <p:spPr>
          <a:xfrm>
            <a:off x="5614416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Oval 689"/>
          <p:cNvSpPr/>
          <p:nvPr/>
        </p:nvSpPr>
        <p:spPr>
          <a:xfrm>
            <a:off x="5742432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Oval 690"/>
          <p:cNvSpPr/>
          <p:nvPr/>
        </p:nvSpPr>
        <p:spPr>
          <a:xfrm>
            <a:off x="749808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Oval 691"/>
          <p:cNvSpPr/>
          <p:nvPr/>
        </p:nvSpPr>
        <p:spPr>
          <a:xfrm>
            <a:off x="877824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Oval 692"/>
          <p:cNvSpPr/>
          <p:nvPr/>
        </p:nvSpPr>
        <p:spPr>
          <a:xfrm>
            <a:off x="1005840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Oval 693"/>
          <p:cNvSpPr/>
          <p:nvPr/>
        </p:nvSpPr>
        <p:spPr>
          <a:xfrm>
            <a:off x="1133856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Oval 694"/>
          <p:cNvSpPr/>
          <p:nvPr/>
        </p:nvSpPr>
        <p:spPr>
          <a:xfrm>
            <a:off x="1261872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Oval 695"/>
          <p:cNvSpPr/>
          <p:nvPr/>
        </p:nvSpPr>
        <p:spPr>
          <a:xfrm>
            <a:off x="1389888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Oval 696"/>
          <p:cNvSpPr/>
          <p:nvPr/>
        </p:nvSpPr>
        <p:spPr>
          <a:xfrm>
            <a:off x="1517904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Oval 697"/>
          <p:cNvSpPr/>
          <p:nvPr/>
        </p:nvSpPr>
        <p:spPr>
          <a:xfrm>
            <a:off x="1645920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Oval 698"/>
          <p:cNvSpPr/>
          <p:nvPr/>
        </p:nvSpPr>
        <p:spPr>
          <a:xfrm>
            <a:off x="1773936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Oval 699"/>
          <p:cNvSpPr/>
          <p:nvPr/>
        </p:nvSpPr>
        <p:spPr>
          <a:xfrm>
            <a:off x="1901952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Oval 700"/>
          <p:cNvSpPr/>
          <p:nvPr/>
        </p:nvSpPr>
        <p:spPr>
          <a:xfrm>
            <a:off x="2029968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Oval 701"/>
          <p:cNvSpPr/>
          <p:nvPr/>
        </p:nvSpPr>
        <p:spPr>
          <a:xfrm>
            <a:off x="2157984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Oval 702"/>
          <p:cNvSpPr/>
          <p:nvPr/>
        </p:nvSpPr>
        <p:spPr>
          <a:xfrm>
            <a:off x="2286000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Oval 703"/>
          <p:cNvSpPr/>
          <p:nvPr/>
        </p:nvSpPr>
        <p:spPr>
          <a:xfrm>
            <a:off x="2414016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Oval 704"/>
          <p:cNvSpPr/>
          <p:nvPr/>
        </p:nvSpPr>
        <p:spPr>
          <a:xfrm>
            <a:off x="2542032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Oval 705"/>
          <p:cNvSpPr/>
          <p:nvPr/>
        </p:nvSpPr>
        <p:spPr>
          <a:xfrm>
            <a:off x="2670048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Oval 706"/>
          <p:cNvSpPr/>
          <p:nvPr/>
        </p:nvSpPr>
        <p:spPr>
          <a:xfrm>
            <a:off x="2798064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Oval 707"/>
          <p:cNvSpPr/>
          <p:nvPr/>
        </p:nvSpPr>
        <p:spPr>
          <a:xfrm>
            <a:off x="2926080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Oval 708"/>
          <p:cNvSpPr/>
          <p:nvPr/>
        </p:nvSpPr>
        <p:spPr>
          <a:xfrm>
            <a:off x="3054096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Oval 709"/>
          <p:cNvSpPr/>
          <p:nvPr/>
        </p:nvSpPr>
        <p:spPr>
          <a:xfrm>
            <a:off x="3182112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Oval 710"/>
          <p:cNvSpPr/>
          <p:nvPr/>
        </p:nvSpPr>
        <p:spPr>
          <a:xfrm>
            <a:off x="3310128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Oval 711"/>
          <p:cNvSpPr/>
          <p:nvPr/>
        </p:nvSpPr>
        <p:spPr>
          <a:xfrm>
            <a:off x="3438144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Oval 712"/>
          <p:cNvSpPr/>
          <p:nvPr/>
        </p:nvSpPr>
        <p:spPr>
          <a:xfrm>
            <a:off x="3566160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Oval 713"/>
          <p:cNvSpPr/>
          <p:nvPr/>
        </p:nvSpPr>
        <p:spPr>
          <a:xfrm>
            <a:off x="3694176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Oval 714"/>
          <p:cNvSpPr/>
          <p:nvPr/>
        </p:nvSpPr>
        <p:spPr>
          <a:xfrm>
            <a:off x="3822192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Oval 715"/>
          <p:cNvSpPr/>
          <p:nvPr/>
        </p:nvSpPr>
        <p:spPr>
          <a:xfrm>
            <a:off x="3950208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Oval 716"/>
          <p:cNvSpPr/>
          <p:nvPr/>
        </p:nvSpPr>
        <p:spPr>
          <a:xfrm>
            <a:off x="4078224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Oval 717"/>
          <p:cNvSpPr/>
          <p:nvPr/>
        </p:nvSpPr>
        <p:spPr>
          <a:xfrm>
            <a:off x="4206240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Oval 718"/>
          <p:cNvSpPr/>
          <p:nvPr/>
        </p:nvSpPr>
        <p:spPr>
          <a:xfrm>
            <a:off x="4334256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Oval 719"/>
          <p:cNvSpPr/>
          <p:nvPr/>
        </p:nvSpPr>
        <p:spPr>
          <a:xfrm>
            <a:off x="4462272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Oval 720"/>
          <p:cNvSpPr/>
          <p:nvPr/>
        </p:nvSpPr>
        <p:spPr>
          <a:xfrm>
            <a:off x="4590288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Oval 721"/>
          <p:cNvSpPr/>
          <p:nvPr/>
        </p:nvSpPr>
        <p:spPr>
          <a:xfrm>
            <a:off x="4718304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Oval 722"/>
          <p:cNvSpPr/>
          <p:nvPr/>
        </p:nvSpPr>
        <p:spPr>
          <a:xfrm>
            <a:off x="4846320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Oval 723"/>
          <p:cNvSpPr/>
          <p:nvPr/>
        </p:nvSpPr>
        <p:spPr>
          <a:xfrm>
            <a:off x="4974336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Oval 724"/>
          <p:cNvSpPr/>
          <p:nvPr/>
        </p:nvSpPr>
        <p:spPr>
          <a:xfrm>
            <a:off x="5102352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Oval 725"/>
          <p:cNvSpPr/>
          <p:nvPr/>
        </p:nvSpPr>
        <p:spPr>
          <a:xfrm>
            <a:off x="5230368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Oval 726"/>
          <p:cNvSpPr/>
          <p:nvPr/>
        </p:nvSpPr>
        <p:spPr>
          <a:xfrm>
            <a:off x="5358384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Oval 727"/>
          <p:cNvSpPr/>
          <p:nvPr/>
        </p:nvSpPr>
        <p:spPr>
          <a:xfrm>
            <a:off x="5486400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Oval 728"/>
          <p:cNvSpPr/>
          <p:nvPr/>
        </p:nvSpPr>
        <p:spPr>
          <a:xfrm>
            <a:off x="5614416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Oval 729"/>
          <p:cNvSpPr/>
          <p:nvPr/>
        </p:nvSpPr>
        <p:spPr>
          <a:xfrm>
            <a:off x="5742432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Oval 730"/>
          <p:cNvSpPr/>
          <p:nvPr/>
        </p:nvSpPr>
        <p:spPr>
          <a:xfrm>
            <a:off x="749808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Oval 731"/>
          <p:cNvSpPr/>
          <p:nvPr/>
        </p:nvSpPr>
        <p:spPr>
          <a:xfrm>
            <a:off x="877824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Oval 732"/>
          <p:cNvSpPr/>
          <p:nvPr/>
        </p:nvSpPr>
        <p:spPr>
          <a:xfrm>
            <a:off x="1005840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Oval 733"/>
          <p:cNvSpPr/>
          <p:nvPr/>
        </p:nvSpPr>
        <p:spPr>
          <a:xfrm>
            <a:off x="1133856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Oval 734"/>
          <p:cNvSpPr/>
          <p:nvPr/>
        </p:nvSpPr>
        <p:spPr>
          <a:xfrm>
            <a:off x="1261872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Oval 735"/>
          <p:cNvSpPr/>
          <p:nvPr/>
        </p:nvSpPr>
        <p:spPr>
          <a:xfrm>
            <a:off x="1389888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Oval 736"/>
          <p:cNvSpPr/>
          <p:nvPr/>
        </p:nvSpPr>
        <p:spPr>
          <a:xfrm>
            <a:off x="1517904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Oval 737"/>
          <p:cNvSpPr/>
          <p:nvPr/>
        </p:nvSpPr>
        <p:spPr>
          <a:xfrm>
            <a:off x="1645920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Oval 738"/>
          <p:cNvSpPr/>
          <p:nvPr/>
        </p:nvSpPr>
        <p:spPr>
          <a:xfrm>
            <a:off x="1773936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Oval 739"/>
          <p:cNvSpPr/>
          <p:nvPr/>
        </p:nvSpPr>
        <p:spPr>
          <a:xfrm>
            <a:off x="1901952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Oval 740"/>
          <p:cNvSpPr/>
          <p:nvPr/>
        </p:nvSpPr>
        <p:spPr>
          <a:xfrm>
            <a:off x="2029968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Oval 741"/>
          <p:cNvSpPr/>
          <p:nvPr/>
        </p:nvSpPr>
        <p:spPr>
          <a:xfrm>
            <a:off x="2157984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Oval 742"/>
          <p:cNvSpPr/>
          <p:nvPr/>
        </p:nvSpPr>
        <p:spPr>
          <a:xfrm>
            <a:off x="2286000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Oval 743"/>
          <p:cNvSpPr/>
          <p:nvPr/>
        </p:nvSpPr>
        <p:spPr>
          <a:xfrm>
            <a:off x="2414016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Oval 744"/>
          <p:cNvSpPr/>
          <p:nvPr/>
        </p:nvSpPr>
        <p:spPr>
          <a:xfrm>
            <a:off x="2542032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Oval 745"/>
          <p:cNvSpPr/>
          <p:nvPr/>
        </p:nvSpPr>
        <p:spPr>
          <a:xfrm>
            <a:off x="2670048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Oval 746"/>
          <p:cNvSpPr/>
          <p:nvPr/>
        </p:nvSpPr>
        <p:spPr>
          <a:xfrm>
            <a:off x="2798064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Oval 747"/>
          <p:cNvSpPr/>
          <p:nvPr/>
        </p:nvSpPr>
        <p:spPr>
          <a:xfrm>
            <a:off x="2926080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Oval 748"/>
          <p:cNvSpPr/>
          <p:nvPr/>
        </p:nvSpPr>
        <p:spPr>
          <a:xfrm>
            <a:off x="3054096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Oval 749"/>
          <p:cNvSpPr/>
          <p:nvPr/>
        </p:nvSpPr>
        <p:spPr>
          <a:xfrm>
            <a:off x="3182112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Oval 750"/>
          <p:cNvSpPr/>
          <p:nvPr/>
        </p:nvSpPr>
        <p:spPr>
          <a:xfrm>
            <a:off x="3310128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Oval 751"/>
          <p:cNvSpPr/>
          <p:nvPr/>
        </p:nvSpPr>
        <p:spPr>
          <a:xfrm>
            <a:off x="3438144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Oval 752"/>
          <p:cNvSpPr/>
          <p:nvPr/>
        </p:nvSpPr>
        <p:spPr>
          <a:xfrm>
            <a:off x="3566160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Oval 753"/>
          <p:cNvSpPr/>
          <p:nvPr/>
        </p:nvSpPr>
        <p:spPr>
          <a:xfrm>
            <a:off x="3694176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Oval 754"/>
          <p:cNvSpPr/>
          <p:nvPr/>
        </p:nvSpPr>
        <p:spPr>
          <a:xfrm>
            <a:off x="3822192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Oval 755"/>
          <p:cNvSpPr/>
          <p:nvPr/>
        </p:nvSpPr>
        <p:spPr>
          <a:xfrm>
            <a:off x="3950208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Oval 756"/>
          <p:cNvSpPr/>
          <p:nvPr/>
        </p:nvSpPr>
        <p:spPr>
          <a:xfrm>
            <a:off x="4078224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Oval 757"/>
          <p:cNvSpPr/>
          <p:nvPr/>
        </p:nvSpPr>
        <p:spPr>
          <a:xfrm>
            <a:off x="4206240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Oval 758"/>
          <p:cNvSpPr/>
          <p:nvPr/>
        </p:nvSpPr>
        <p:spPr>
          <a:xfrm>
            <a:off x="4334256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Oval 759"/>
          <p:cNvSpPr/>
          <p:nvPr/>
        </p:nvSpPr>
        <p:spPr>
          <a:xfrm>
            <a:off x="4462272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Oval 760"/>
          <p:cNvSpPr/>
          <p:nvPr/>
        </p:nvSpPr>
        <p:spPr>
          <a:xfrm>
            <a:off x="4590288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Oval 761"/>
          <p:cNvSpPr/>
          <p:nvPr/>
        </p:nvSpPr>
        <p:spPr>
          <a:xfrm>
            <a:off x="4718304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Oval 762"/>
          <p:cNvSpPr/>
          <p:nvPr/>
        </p:nvSpPr>
        <p:spPr>
          <a:xfrm>
            <a:off x="4846320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Oval 763"/>
          <p:cNvSpPr/>
          <p:nvPr/>
        </p:nvSpPr>
        <p:spPr>
          <a:xfrm>
            <a:off x="4974336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Oval 764"/>
          <p:cNvSpPr/>
          <p:nvPr/>
        </p:nvSpPr>
        <p:spPr>
          <a:xfrm>
            <a:off x="5102352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Oval 765"/>
          <p:cNvSpPr/>
          <p:nvPr/>
        </p:nvSpPr>
        <p:spPr>
          <a:xfrm>
            <a:off x="5230368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Oval 766"/>
          <p:cNvSpPr/>
          <p:nvPr/>
        </p:nvSpPr>
        <p:spPr>
          <a:xfrm>
            <a:off x="5358384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Oval 767"/>
          <p:cNvSpPr/>
          <p:nvPr/>
        </p:nvSpPr>
        <p:spPr>
          <a:xfrm>
            <a:off x="5486400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Oval 768"/>
          <p:cNvSpPr/>
          <p:nvPr/>
        </p:nvSpPr>
        <p:spPr>
          <a:xfrm>
            <a:off x="5614416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Oval 769"/>
          <p:cNvSpPr/>
          <p:nvPr/>
        </p:nvSpPr>
        <p:spPr>
          <a:xfrm>
            <a:off x="5742432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Oval 770"/>
          <p:cNvSpPr/>
          <p:nvPr/>
        </p:nvSpPr>
        <p:spPr>
          <a:xfrm>
            <a:off x="749808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Oval 771"/>
          <p:cNvSpPr/>
          <p:nvPr/>
        </p:nvSpPr>
        <p:spPr>
          <a:xfrm>
            <a:off x="877824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Oval 772"/>
          <p:cNvSpPr/>
          <p:nvPr/>
        </p:nvSpPr>
        <p:spPr>
          <a:xfrm>
            <a:off x="1005840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Oval 773"/>
          <p:cNvSpPr/>
          <p:nvPr/>
        </p:nvSpPr>
        <p:spPr>
          <a:xfrm>
            <a:off x="1133856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Oval 774"/>
          <p:cNvSpPr/>
          <p:nvPr/>
        </p:nvSpPr>
        <p:spPr>
          <a:xfrm>
            <a:off x="1261872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Oval 775"/>
          <p:cNvSpPr/>
          <p:nvPr/>
        </p:nvSpPr>
        <p:spPr>
          <a:xfrm>
            <a:off x="1389888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Oval 776"/>
          <p:cNvSpPr/>
          <p:nvPr/>
        </p:nvSpPr>
        <p:spPr>
          <a:xfrm>
            <a:off x="1517904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Oval 777"/>
          <p:cNvSpPr/>
          <p:nvPr/>
        </p:nvSpPr>
        <p:spPr>
          <a:xfrm>
            <a:off x="1645920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Oval 778"/>
          <p:cNvSpPr/>
          <p:nvPr/>
        </p:nvSpPr>
        <p:spPr>
          <a:xfrm>
            <a:off x="1773936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Oval 779"/>
          <p:cNvSpPr/>
          <p:nvPr/>
        </p:nvSpPr>
        <p:spPr>
          <a:xfrm>
            <a:off x="1901952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Oval 780"/>
          <p:cNvSpPr/>
          <p:nvPr/>
        </p:nvSpPr>
        <p:spPr>
          <a:xfrm>
            <a:off x="2029968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Oval 781"/>
          <p:cNvSpPr/>
          <p:nvPr/>
        </p:nvSpPr>
        <p:spPr>
          <a:xfrm>
            <a:off x="2157984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Oval 782"/>
          <p:cNvSpPr/>
          <p:nvPr/>
        </p:nvSpPr>
        <p:spPr>
          <a:xfrm>
            <a:off x="2286000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Oval 783"/>
          <p:cNvSpPr/>
          <p:nvPr/>
        </p:nvSpPr>
        <p:spPr>
          <a:xfrm>
            <a:off x="2414016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Oval 784"/>
          <p:cNvSpPr/>
          <p:nvPr/>
        </p:nvSpPr>
        <p:spPr>
          <a:xfrm>
            <a:off x="2542032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Oval 785"/>
          <p:cNvSpPr/>
          <p:nvPr/>
        </p:nvSpPr>
        <p:spPr>
          <a:xfrm>
            <a:off x="2670048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Oval 786"/>
          <p:cNvSpPr/>
          <p:nvPr/>
        </p:nvSpPr>
        <p:spPr>
          <a:xfrm>
            <a:off x="2798064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Oval 787"/>
          <p:cNvSpPr/>
          <p:nvPr/>
        </p:nvSpPr>
        <p:spPr>
          <a:xfrm>
            <a:off x="2926080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Oval 788"/>
          <p:cNvSpPr/>
          <p:nvPr/>
        </p:nvSpPr>
        <p:spPr>
          <a:xfrm>
            <a:off x="3054096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Oval 789"/>
          <p:cNvSpPr/>
          <p:nvPr/>
        </p:nvSpPr>
        <p:spPr>
          <a:xfrm>
            <a:off x="3182112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Oval 790"/>
          <p:cNvSpPr/>
          <p:nvPr/>
        </p:nvSpPr>
        <p:spPr>
          <a:xfrm>
            <a:off x="3310128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Oval 791"/>
          <p:cNvSpPr/>
          <p:nvPr/>
        </p:nvSpPr>
        <p:spPr>
          <a:xfrm>
            <a:off x="3438144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Oval 792"/>
          <p:cNvSpPr/>
          <p:nvPr/>
        </p:nvSpPr>
        <p:spPr>
          <a:xfrm>
            <a:off x="3566160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Oval 793"/>
          <p:cNvSpPr/>
          <p:nvPr/>
        </p:nvSpPr>
        <p:spPr>
          <a:xfrm>
            <a:off x="3694176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Oval 794"/>
          <p:cNvSpPr/>
          <p:nvPr/>
        </p:nvSpPr>
        <p:spPr>
          <a:xfrm>
            <a:off x="3822192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Oval 795"/>
          <p:cNvSpPr/>
          <p:nvPr/>
        </p:nvSpPr>
        <p:spPr>
          <a:xfrm>
            <a:off x="3950208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Oval 796"/>
          <p:cNvSpPr/>
          <p:nvPr/>
        </p:nvSpPr>
        <p:spPr>
          <a:xfrm>
            <a:off x="4078224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Oval 797"/>
          <p:cNvSpPr/>
          <p:nvPr/>
        </p:nvSpPr>
        <p:spPr>
          <a:xfrm>
            <a:off x="4206240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Oval 798"/>
          <p:cNvSpPr/>
          <p:nvPr/>
        </p:nvSpPr>
        <p:spPr>
          <a:xfrm>
            <a:off x="4334256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Oval 799"/>
          <p:cNvSpPr/>
          <p:nvPr/>
        </p:nvSpPr>
        <p:spPr>
          <a:xfrm>
            <a:off x="4462272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Oval 800"/>
          <p:cNvSpPr/>
          <p:nvPr/>
        </p:nvSpPr>
        <p:spPr>
          <a:xfrm>
            <a:off x="4590288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Oval 801"/>
          <p:cNvSpPr/>
          <p:nvPr/>
        </p:nvSpPr>
        <p:spPr>
          <a:xfrm>
            <a:off x="4718304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Oval 802"/>
          <p:cNvSpPr/>
          <p:nvPr/>
        </p:nvSpPr>
        <p:spPr>
          <a:xfrm>
            <a:off x="4846320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Oval 803"/>
          <p:cNvSpPr/>
          <p:nvPr/>
        </p:nvSpPr>
        <p:spPr>
          <a:xfrm>
            <a:off x="4974336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Oval 804"/>
          <p:cNvSpPr/>
          <p:nvPr/>
        </p:nvSpPr>
        <p:spPr>
          <a:xfrm>
            <a:off x="5102352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Oval 805"/>
          <p:cNvSpPr/>
          <p:nvPr/>
        </p:nvSpPr>
        <p:spPr>
          <a:xfrm>
            <a:off x="5230368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Oval 806"/>
          <p:cNvSpPr/>
          <p:nvPr/>
        </p:nvSpPr>
        <p:spPr>
          <a:xfrm>
            <a:off x="5358384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Oval 807"/>
          <p:cNvSpPr/>
          <p:nvPr/>
        </p:nvSpPr>
        <p:spPr>
          <a:xfrm>
            <a:off x="5486400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Oval 808"/>
          <p:cNvSpPr/>
          <p:nvPr/>
        </p:nvSpPr>
        <p:spPr>
          <a:xfrm>
            <a:off x="5614416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Oval 809"/>
          <p:cNvSpPr/>
          <p:nvPr/>
        </p:nvSpPr>
        <p:spPr>
          <a:xfrm>
            <a:off x="5742432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Oval 810"/>
          <p:cNvSpPr/>
          <p:nvPr/>
        </p:nvSpPr>
        <p:spPr>
          <a:xfrm>
            <a:off x="749808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Oval 811"/>
          <p:cNvSpPr/>
          <p:nvPr/>
        </p:nvSpPr>
        <p:spPr>
          <a:xfrm>
            <a:off x="877824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Oval 812"/>
          <p:cNvSpPr/>
          <p:nvPr/>
        </p:nvSpPr>
        <p:spPr>
          <a:xfrm>
            <a:off x="1005840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Oval 813"/>
          <p:cNvSpPr/>
          <p:nvPr/>
        </p:nvSpPr>
        <p:spPr>
          <a:xfrm>
            <a:off x="1133856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Oval 814"/>
          <p:cNvSpPr/>
          <p:nvPr/>
        </p:nvSpPr>
        <p:spPr>
          <a:xfrm>
            <a:off x="1261872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Oval 815"/>
          <p:cNvSpPr/>
          <p:nvPr/>
        </p:nvSpPr>
        <p:spPr>
          <a:xfrm>
            <a:off x="1389888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Oval 816"/>
          <p:cNvSpPr/>
          <p:nvPr/>
        </p:nvSpPr>
        <p:spPr>
          <a:xfrm>
            <a:off x="1517904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Oval 817"/>
          <p:cNvSpPr/>
          <p:nvPr/>
        </p:nvSpPr>
        <p:spPr>
          <a:xfrm>
            <a:off x="1645920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Oval 818"/>
          <p:cNvSpPr/>
          <p:nvPr/>
        </p:nvSpPr>
        <p:spPr>
          <a:xfrm>
            <a:off x="1773936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Oval 819"/>
          <p:cNvSpPr/>
          <p:nvPr/>
        </p:nvSpPr>
        <p:spPr>
          <a:xfrm>
            <a:off x="1901952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Oval 820"/>
          <p:cNvSpPr/>
          <p:nvPr/>
        </p:nvSpPr>
        <p:spPr>
          <a:xfrm>
            <a:off x="2029968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Oval 821"/>
          <p:cNvSpPr/>
          <p:nvPr/>
        </p:nvSpPr>
        <p:spPr>
          <a:xfrm>
            <a:off x="2157984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Oval 822"/>
          <p:cNvSpPr/>
          <p:nvPr/>
        </p:nvSpPr>
        <p:spPr>
          <a:xfrm>
            <a:off x="2286000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Oval 823"/>
          <p:cNvSpPr/>
          <p:nvPr/>
        </p:nvSpPr>
        <p:spPr>
          <a:xfrm>
            <a:off x="2414016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Oval 824"/>
          <p:cNvSpPr/>
          <p:nvPr/>
        </p:nvSpPr>
        <p:spPr>
          <a:xfrm>
            <a:off x="2542032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Oval 825"/>
          <p:cNvSpPr/>
          <p:nvPr/>
        </p:nvSpPr>
        <p:spPr>
          <a:xfrm>
            <a:off x="2670048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Oval 826"/>
          <p:cNvSpPr/>
          <p:nvPr/>
        </p:nvSpPr>
        <p:spPr>
          <a:xfrm>
            <a:off x="2798064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Oval 827"/>
          <p:cNvSpPr/>
          <p:nvPr/>
        </p:nvSpPr>
        <p:spPr>
          <a:xfrm>
            <a:off x="2926080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Oval 828"/>
          <p:cNvSpPr/>
          <p:nvPr/>
        </p:nvSpPr>
        <p:spPr>
          <a:xfrm>
            <a:off x="3054096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Oval 829"/>
          <p:cNvSpPr/>
          <p:nvPr/>
        </p:nvSpPr>
        <p:spPr>
          <a:xfrm>
            <a:off x="3182112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Oval 830"/>
          <p:cNvSpPr/>
          <p:nvPr/>
        </p:nvSpPr>
        <p:spPr>
          <a:xfrm>
            <a:off x="3310128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Oval 831"/>
          <p:cNvSpPr/>
          <p:nvPr/>
        </p:nvSpPr>
        <p:spPr>
          <a:xfrm>
            <a:off x="3438144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Oval 832"/>
          <p:cNvSpPr/>
          <p:nvPr/>
        </p:nvSpPr>
        <p:spPr>
          <a:xfrm>
            <a:off x="3566160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Oval 833"/>
          <p:cNvSpPr/>
          <p:nvPr/>
        </p:nvSpPr>
        <p:spPr>
          <a:xfrm>
            <a:off x="3694176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Oval 834"/>
          <p:cNvSpPr/>
          <p:nvPr/>
        </p:nvSpPr>
        <p:spPr>
          <a:xfrm>
            <a:off x="3822192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Oval 835"/>
          <p:cNvSpPr/>
          <p:nvPr/>
        </p:nvSpPr>
        <p:spPr>
          <a:xfrm>
            <a:off x="3950208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Oval 836"/>
          <p:cNvSpPr/>
          <p:nvPr/>
        </p:nvSpPr>
        <p:spPr>
          <a:xfrm>
            <a:off x="4078224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Oval 837"/>
          <p:cNvSpPr/>
          <p:nvPr/>
        </p:nvSpPr>
        <p:spPr>
          <a:xfrm>
            <a:off x="4206240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Oval 838"/>
          <p:cNvSpPr/>
          <p:nvPr/>
        </p:nvSpPr>
        <p:spPr>
          <a:xfrm>
            <a:off x="4334256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Oval 839"/>
          <p:cNvSpPr/>
          <p:nvPr/>
        </p:nvSpPr>
        <p:spPr>
          <a:xfrm>
            <a:off x="4462272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Oval 840"/>
          <p:cNvSpPr/>
          <p:nvPr/>
        </p:nvSpPr>
        <p:spPr>
          <a:xfrm>
            <a:off x="4590288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Oval 841"/>
          <p:cNvSpPr/>
          <p:nvPr/>
        </p:nvSpPr>
        <p:spPr>
          <a:xfrm>
            <a:off x="4718304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Oval 842"/>
          <p:cNvSpPr/>
          <p:nvPr/>
        </p:nvSpPr>
        <p:spPr>
          <a:xfrm>
            <a:off x="4846320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Oval 843"/>
          <p:cNvSpPr/>
          <p:nvPr/>
        </p:nvSpPr>
        <p:spPr>
          <a:xfrm>
            <a:off x="4974336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Oval 844"/>
          <p:cNvSpPr/>
          <p:nvPr/>
        </p:nvSpPr>
        <p:spPr>
          <a:xfrm>
            <a:off x="5102352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Oval 845"/>
          <p:cNvSpPr/>
          <p:nvPr/>
        </p:nvSpPr>
        <p:spPr>
          <a:xfrm>
            <a:off x="5230368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Oval 846"/>
          <p:cNvSpPr/>
          <p:nvPr/>
        </p:nvSpPr>
        <p:spPr>
          <a:xfrm>
            <a:off x="5358384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Oval 847"/>
          <p:cNvSpPr/>
          <p:nvPr/>
        </p:nvSpPr>
        <p:spPr>
          <a:xfrm>
            <a:off x="5486400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Oval 848"/>
          <p:cNvSpPr/>
          <p:nvPr/>
        </p:nvSpPr>
        <p:spPr>
          <a:xfrm>
            <a:off x="5614416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Oval 849"/>
          <p:cNvSpPr/>
          <p:nvPr/>
        </p:nvSpPr>
        <p:spPr>
          <a:xfrm>
            <a:off x="5742432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Oval 850"/>
          <p:cNvSpPr/>
          <p:nvPr/>
        </p:nvSpPr>
        <p:spPr>
          <a:xfrm>
            <a:off x="749808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Oval 851"/>
          <p:cNvSpPr/>
          <p:nvPr/>
        </p:nvSpPr>
        <p:spPr>
          <a:xfrm>
            <a:off x="877824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Oval 852"/>
          <p:cNvSpPr/>
          <p:nvPr/>
        </p:nvSpPr>
        <p:spPr>
          <a:xfrm>
            <a:off x="1005840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Oval 853"/>
          <p:cNvSpPr/>
          <p:nvPr/>
        </p:nvSpPr>
        <p:spPr>
          <a:xfrm>
            <a:off x="1133856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Oval 854"/>
          <p:cNvSpPr/>
          <p:nvPr/>
        </p:nvSpPr>
        <p:spPr>
          <a:xfrm>
            <a:off x="1261872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Oval 855"/>
          <p:cNvSpPr/>
          <p:nvPr/>
        </p:nvSpPr>
        <p:spPr>
          <a:xfrm>
            <a:off x="1389888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Oval 856"/>
          <p:cNvSpPr/>
          <p:nvPr/>
        </p:nvSpPr>
        <p:spPr>
          <a:xfrm>
            <a:off x="1517904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Oval 857"/>
          <p:cNvSpPr/>
          <p:nvPr/>
        </p:nvSpPr>
        <p:spPr>
          <a:xfrm>
            <a:off x="1645920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Oval 858"/>
          <p:cNvSpPr/>
          <p:nvPr/>
        </p:nvSpPr>
        <p:spPr>
          <a:xfrm>
            <a:off x="1773936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Oval 859"/>
          <p:cNvSpPr/>
          <p:nvPr/>
        </p:nvSpPr>
        <p:spPr>
          <a:xfrm>
            <a:off x="1901952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Oval 860"/>
          <p:cNvSpPr/>
          <p:nvPr/>
        </p:nvSpPr>
        <p:spPr>
          <a:xfrm>
            <a:off x="2029968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Oval 861"/>
          <p:cNvSpPr/>
          <p:nvPr/>
        </p:nvSpPr>
        <p:spPr>
          <a:xfrm>
            <a:off x="2157984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Oval 862"/>
          <p:cNvSpPr/>
          <p:nvPr/>
        </p:nvSpPr>
        <p:spPr>
          <a:xfrm>
            <a:off x="2286000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Oval 863"/>
          <p:cNvSpPr/>
          <p:nvPr/>
        </p:nvSpPr>
        <p:spPr>
          <a:xfrm>
            <a:off x="2414016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Oval 864"/>
          <p:cNvSpPr/>
          <p:nvPr/>
        </p:nvSpPr>
        <p:spPr>
          <a:xfrm>
            <a:off x="2542032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Oval 865"/>
          <p:cNvSpPr/>
          <p:nvPr/>
        </p:nvSpPr>
        <p:spPr>
          <a:xfrm>
            <a:off x="2670048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Oval 866"/>
          <p:cNvSpPr/>
          <p:nvPr/>
        </p:nvSpPr>
        <p:spPr>
          <a:xfrm>
            <a:off x="2798064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Oval 867"/>
          <p:cNvSpPr/>
          <p:nvPr/>
        </p:nvSpPr>
        <p:spPr>
          <a:xfrm>
            <a:off x="2926080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Oval 868"/>
          <p:cNvSpPr/>
          <p:nvPr/>
        </p:nvSpPr>
        <p:spPr>
          <a:xfrm>
            <a:off x="3054096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Oval 869"/>
          <p:cNvSpPr/>
          <p:nvPr/>
        </p:nvSpPr>
        <p:spPr>
          <a:xfrm>
            <a:off x="3182112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Oval 870"/>
          <p:cNvSpPr/>
          <p:nvPr/>
        </p:nvSpPr>
        <p:spPr>
          <a:xfrm>
            <a:off x="3310128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Oval 871"/>
          <p:cNvSpPr/>
          <p:nvPr/>
        </p:nvSpPr>
        <p:spPr>
          <a:xfrm>
            <a:off x="3438144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Oval 872"/>
          <p:cNvSpPr/>
          <p:nvPr/>
        </p:nvSpPr>
        <p:spPr>
          <a:xfrm>
            <a:off x="3566160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Oval 873"/>
          <p:cNvSpPr/>
          <p:nvPr/>
        </p:nvSpPr>
        <p:spPr>
          <a:xfrm>
            <a:off x="3694176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Oval 874"/>
          <p:cNvSpPr/>
          <p:nvPr/>
        </p:nvSpPr>
        <p:spPr>
          <a:xfrm>
            <a:off x="3822192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Oval 875"/>
          <p:cNvSpPr/>
          <p:nvPr/>
        </p:nvSpPr>
        <p:spPr>
          <a:xfrm>
            <a:off x="3950208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Oval 876"/>
          <p:cNvSpPr/>
          <p:nvPr/>
        </p:nvSpPr>
        <p:spPr>
          <a:xfrm>
            <a:off x="4078224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Oval 877"/>
          <p:cNvSpPr/>
          <p:nvPr/>
        </p:nvSpPr>
        <p:spPr>
          <a:xfrm>
            <a:off x="4206240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Oval 878"/>
          <p:cNvSpPr/>
          <p:nvPr/>
        </p:nvSpPr>
        <p:spPr>
          <a:xfrm>
            <a:off x="4334256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Oval 879"/>
          <p:cNvSpPr/>
          <p:nvPr/>
        </p:nvSpPr>
        <p:spPr>
          <a:xfrm>
            <a:off x="4462272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Oval 880"/>
          <p:cNvSpPr/>
          <p:nvPr/>
        </p:nvSpPr>
        <p:spPr>
          <a:xfrm>
            <a:off x="4590288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Oval 881"/>
          <p:cNvSpPr/>
          <p:nvPr/>
        </p:nvSpPr>
        <p:spPr>
          <a:xfrm>
            <a:off x="4718304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Oval 882"/>
          <p:cNvSpPr/>
          <p:nvPr/>
        </p:nvSpPr>
        <p:spPr>
          <a:xfrm>
            <a:off x="4846320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Oval 883"/>
          <p:cNvSpPr/>
          <p:nvPr/>
        </p:nvSpPr>
        <p:spPr>
          <a:xfrm>
            <a:off x="4974336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Oval 884"/>
          <p:cNvSpPr/>
          <p:nvPr/>
        </p:nvSpPr>
        <p:spPr>
          <a:xfrm>
            <a:off x="5102352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Oval 885"/>
          <p:cNvSpPr/>
          <p:nvPr/>
        </p:nvSpPr>
        <p:spPr>
          <a:xfrm>
            <a:off x="5230368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Oval 886"/>
          <p:cNvSpPr/>
          <p:nvPr/>
        </p:nvSpPr>
        <p:spPr>
          <a:xfrm>
            <a:off x="5358384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Oval 887"/>
          <p:cNvSpPr/>
          <p:nvPr/>
        </p:nvSpPr>
        <p:spPr>
          <a:xfrm>
            <a:off x="5486400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Oval 888"/>
          <p:cNvSpPr/>
          <p:nvPr/>
        </p:nvSpPr>
        <p:spPr>
          <a:xfrm>
            <a:off x="5614416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Oval 889"/>
          <p:cNvSpPr/>
          <p:nvPr/>
        </p:nvSpPr>
        <p:spPr>
          <a:xfrm>
            <a:off x="5742432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Oval 890"/>
          <p:cNvSpPr/>
          <p:nvPr/>
        </p:nvSpPr>
        <p:spPr>
          <a:xfrm>
            <a:off x="749808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Oval 891"/>
          <p:cNvSpPr/>
          <p:nvPr/>
        </p:nvSpPr>
        <p:spPr>
          <a:xfrm>
            <a:off x="877824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Oval 892"/>
          <p:cNvSpPr/>
          <p:nvPr/>
        </p:nvSpPr>
        <p:spPr>
          <a:xfrm>
            <a:off x="1005840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Oval 893"/>
          <p:cNvSpPr/>
          <p:nvPr/>
        </p:nvSpPr>
        <p:spPr>
          <a:xfrm>
            <a:off x="1133856" y="4639665"/>
            <a:ext cx="73152" cy="73152"/>
          </a:xfrm>
          <a:prstGeom prst="ellipse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Oval 894"/>
          <p:cNvSpPr/>
          <p:nvPr/>
        </p:nvSpPr>
        <p:spPr>
          <a:xfrm>
            <a:off x="1261872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Oval 895"/>
          <p:cNvSpPr/>
          <p:nvPr/>
        </p:nvSpPr>
        <p:spPr>
          <a:xfrm>
            <a:off x="1389888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Oval 896"/>
          <p:cNvSpPr/>
          <p:nvPr/>
        </p:nvSpPr>
        <p:spPr>
          <a:xfrm>
            <a:off x="1517904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Oval 897"/>
          <p:cNvSpPr/>
          <p:nvPr/>
        </p:nvSpPr>
        <p:spPr>
          <a:xfrm>
            <a:off x="1645920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Oval 898"/>
          <p:cNvSpPr/>
          <p:nvPr/>
        </p:nvSpPr>
        <p:spPr>
          <a:xfrm>
            <a:off x="1773936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Oval 899"/>
          <p:cNvSpPr/>
          <p:nvPr/>
        </p:nvSpPr>
        <p:spPr>
          <a:xfrm>
            <a:off x="1901952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Oval 900"/>
          <p:cNvSpPr/>
          <p:nvPr/>
        </p:nvSpPr>
        <p:spPr>
          <a:xfrm>
            <a:off x="2029968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Oval 901"/>
          <p:cNvSpPr/>
          <p:nvPr/>
        </p:nvSpPr>
        <p:spPr>
          <a:xfrm>
            <a:off x="2157984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Oval 902"/>
          <p:cNvSpPr/>
          <p:nvPr/>
        </p:nvSpPr>
        <p:spPr>
          <a:xfrm>
            <a:off x="2286000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Oval 903"/>
          <p:cNvSpPr/>
          <p:nvPr/>
        </p:nvSpPr>
        <p:spPr>
          <a:xfrm>
            <a:off x="2414016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Oval 904"/>
          <p:cNvSpPr/>
          <p:nvPr/>
        </p:nvSpPr>
        <p:spPr>
          <a:xfrm>
            <a:off x="2542032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Oval 905"/>
          <p:cNvSpPr/>
          <p:nvPr/>
        </p:nvSpPr>
        <p:spPr>
          <a:xfrm>
            <a:off x="2670048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Oval 906"/>
          <p:cNvSpPr/>
          <p:nvPr/>
        </p:nvSpPr>
        <p:spPr>
          <a:xfrm>
            <a:off x="2798064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Oval 907"/>
          <p:cNvSpPr/>
          <p:nvPr/>
        </p:nvSpPr>
        <p:spPr>
          <a:xfrm>
            <a:off x="2926080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Oval 908"/>
          <p:cNvSpPr/>
          <p:nvPr/>
        </p:nvSpPr>
        <p:spPr>
          <a:xfrm>
            <a:off x="3054096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Oval 909"/>
          <p:cNvSpPr/>
          <p:nvPr/>
        </p:nvSpPr>
        <p:spPr>
          <a:xfrm>
            <a:off x="3182112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Oval 910"/>
          <p:cNvSpPr/>
          <p:nvPr/>
        </p:nvSpPr>
        <p:spPr>
          <a:xfrm>
            <a:off x="3310128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Oval 911"/>
          <p:cNvSpPr/>
          <p:nvPr/>
        </p:nvSpPr>
        <p:spPr>
          <a:xfrm>
            <a:off x="3438144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Oval 912"/>
          <p:cNvSpPr/>
          <p:nvPr/>
        </p:nvSpPr>
        <p:spPr>
          <a:xfrm>
            <a:off x="3566160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Oval 913"/>
          <p:cNvSpPr/>
          <p:nvPr/>
        </p:nvSpPr>
        <p:spPr>
          <a:xfrm>
            <a:off x="3694176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Oval 914"/>
          <p:cNvSpPr/>
          <p:nvPr/>
        </p:nvSpPr>
        <p:spPr>
          <a:xfrm>
            <a:off x="3822192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Oval 915"/>
          <p:cNvSpPr/>
          <p:nvPr/>
        </p:nvSpPr>
        <p:spPr>
          <a:xfrm>
            <a:off x="3950208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Oval 916"/>
          <p:cNvSpPr/>
          <p:nvPr/>
        </p:nvSpPr>
        <p:spPr>
          <a:xfrm>
            <a:off x="4078224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Oval 917"/>
          <p:cNvSpPr/>
          <p:nvPr/>
        </p:nvSpPr>
        <p:spPr>
          <a:xfrm>
            <a:off x="4206240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Oval 918"/>
          <p:cNvSpPr/>
          <p:nvPr/>
        </p:nvSpPr>
        <p:spPr>
          <a:xfrm>
            <a:off x="4334256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Oval 919"/>
          <p:cNvSpPr/>
          <p:nvPr/>
        </p:nvSpPr>
        <p:spPr>
          <a:xfrm>
            <a:off x="4462272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Oval 920"/>
          <p:cNvSpPr/>
          <p:nvPr/>
        </p:nvSpPr>
        <p:spPr>
          <a:xfrm>
            <a:off x="4590288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Oval 921"/>
          <p:cNvSpPr/>
          <p:nvPr/>
        </p:nvSpPr>
        <p:spPr>
          <a:xfrm>
            <a:off x="4718304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Oval 922"/>
          <p:cNvSpPr/>
          <p:nvPr/>
        </p:nvSpPr>
        <p:spPr>
          <a:xfrm>
            <a:off x="4846320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Oval 923"/>
          <p:cNvSpPr/>
          <p:nvPr/>
        </p:nvSpPr>
        <p:spPr>
          <a:xfrm>
            <a:off x="4974336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Oval 924"/>
          <p:cNvSpPr/>
          <p:nvPr/>
        </p:nvSpPr>
        <p:spPr>
          <a:xfrm>
            <a:off x="5102352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Oval 925"/>
          <p:cNvSpPr/>
          <p:nvPr/>
        </p:nvSpPr>
        <p:spPr>
          <a:xfrm>
            <a:off x="5230368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Oval 926"/>
          <p:cNvSpPr/>
          <p:nvPr/>
        </p:nvSpPr>
        <p:spPr>
          <a:xfrm>
            <a:off x="5358384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Oval 927"/>
          <p:cNvSpPr/>
          <p:nvPr/>
        </p:nvSpPr>
        <p:spPr>
          <a:xfrm>
            <a:off x="5486400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Oval 928"/>
          <p:cNvSpPr/>
          <p:nvPr/>
        </p:nvSpPr>
        <p:spPr>
          <a:xfrm>
            <a:off x="5614416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Oval 929"/>
          <p:cNvSpPr/>
          <p:nvPr/>
        </p:nvSpPr>
        <p:spPr>
          <a:xfrm>
            <a:off x="5742432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Oval 930"/>
          <p:cNvSpPr/>
          <p:nvPr/>
        </p:nvSpPr>
        <p:spPr>
          <a:xfrm>
            <a:off x="749808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Oval 931"/>
          <p:cNvSpPr/>
          <p:nvPr/>
        </p:nvSpPr>
        <p:spPr>
          <a:xfrm>
            <a:off x="877824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Oval 932"/>
          <p:cNvSpPr/>
          <p:nvPr/>
        </p:nvSpPr>
        <p:spPr>
          <a:xfrm>
            <a:off x="1005840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Oval 933"/>
          <p:cNvSpPr/>
          <p:nvPr/>
        </p:nvSpPr>
        <p:spPr>
          <a:xfrm>
            <a:off x="1133856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Oval 934"/>
          <p:cNvSpPr/>
          <p:nvPr/>
        </p:nvSpPr>
        <p:spPr>
          <a:xfrm>
            <a:off x="1261872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Oval 935"/>
          <p:cNvSpPr/>
          <p:nvPr/>
        </p:nvSpPr>
        <p:spPr>
          <a:xfrm>
            <a:off x="1389888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Oval 936"/>
          <p:cNvSpPr/>
          <p:nvPr/>
        </p:nvSpPr>
        <p:spPr>
          <a:xfrm>
            <a:off x="1517904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Oval 937"/>
          <p:cNvSpPr/>
          <p:nvPr/>
        </p:nvSpPr>
        <p:spPr>
          <a:xfrm>
            <a:off x="1645920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Oval 938"/>
          <p:cNvSpPr/>
          <p:nvPr/>
        </p:nvSpPr>
        <p:spPr>
          <a:xfrm>
            <a:off x="1773936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Oval 939"/>
          <p:cNvSpPr/>
          <p:nvPr/>
        </p:nvSpPr>
        <p:spPr>
          <a:xfrm>
            <a:off x="1901952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Oval 940"/>
          <p:cNvSpPr/>
          <p:nvPr/>
        </p:nvSpPr>
        <p:spPr>
          <a:xfrm>
            <a:off x="2029968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Oval 941"/>
          <p:cNvSpPr/>
          <p:nvPr/>
        </p:nvSpPr>
        <p:spPr>
          <a:xfrm>
            <a:off x="2157984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Oval 942"/>
          <p:cNvSpPr/>
          <p:nvPr/>
        </p:nvSpPr>
        <p:spPr>
          <a:xfrm>
            <a:off x="2286000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Oval 943"/>
          <p:cNvSpPr/>
          <p:nvPr/>
        </p:nvSpPr>
        <p:spPr>
          <a:xfrm>
            <a:off x="2414016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Oval 944"/>
          <p:cNvSpPr/>
          <p:nvPr/>
        </p:nvSpPr>
        <p:spPr>
          <a:xfrm>
            <a:off x="2542032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Oval 945"/>
          <p:cNvSpPr/>
          <p:nvPr/>
        </p:nvSpPr>
        <p:spPr>
          <a:xfrm>
            <a:off x="2670048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Oval 946"/>
          <p:cNvSpPr/>
          <p:nvPr/>
        </p:nvSpPr>
        <p:spPr>
          <a:xfrm>
            <a:off x="2798064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Oval 947"/>
          <p:cNvSpPr/>
          <p:nvPr/>
        </p:nvSpPr>
        <p:spPr>
          <a:xfrm>
            <a:off x="2926080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Oval 948"/>
          <p:cNvSpPr/>
          <p:nvPr/>
        </p:nvSpPr>
        <p:spPr>
          <a:xfrm>
            <a:off x="3054096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Oval 949"/>
          <p:cNvSpPr/>
          <p:nvPr/>
        </p:nvSpPr>
        <p:spPr>
          <a:xfrm>
            <a:off x="3182112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Oval 950"/>
          <p:cNvSpPr/>
          <p:nvPr/>
        </p:nvSpPr>
        <p:spPr>
          <a:xfrm>
            <a:off x="3310128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Oval 951"/>
          <p:cNvSpPr/>
          <p:nvPr/>
        </p:nvSpPr>
        <p:spPr>
          <a:xfrm>
            <a:off x="3438144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Oval 952"/>
          <p:cNvSpPr/>
          <p:nvPr/>
        </p:nvSpPr>
        <p:spPr>
          <a:xfrm>
            <a:off x="3566160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Oval 953"/>
          <p:cNvSpPr/>
          <p:nvPr/>
        </p:nvSpPr>
        <p:spPr>
          <a:xfrm>
            <a:off x="3694176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Oval 954"/>
          <p:cNvSpPr/>
          <p:nvPr/>
        </p:nvSpPr>
        <p:spPr>
          <a:xfrm>
            <a:off x="3822192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Oval 955"/>
          <p:cNvSpPr/>
          <p:nvPr/>
        </p:nvSpPr>
        <p:spPr>
          <a:xfrm>
            <a:off x="3950208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Oval 956"/>
          <p:cNvSpPr/>
          <p:nvPr/>
        </p:nvSpPr>
        <p:spPr>
          <a:xfrm>
            <a:off x="4078224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Oval 957"/>
          <p:cNvSpPr/>
          <p:nvPr/>
        </p:nvSpPr>
        <p:spPr>
          <a:xfrm>
            <a:off x="4206240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Oval 958"/>
          <p:cNvSpPr/>
          <p:nvPr/>
        </p:nvSpPr>
        <p:spPr>
          <a:xfrm>
            <a:off x="4334256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Oval 959"/>
          <p:cNvSpPr/>
          <p:nvPr/>
        </p:nvSpPr>
        <p:spPr>
          <a:xfrm>
            <a:off x="4462272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Oval 960"/>
          <p:cNvSpPr/>
          <p:nvPr/>
        </p:nvSpPr>
        <p:spPr>
          <a:xfrm>
            <a:off x="4590288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Oval 961"/>
          <p:cNvSpPr/>
          <p:nvPr/>
        </p:nvSpPr>
        <p:spPr>
          <a:xfrm>
            <a:off x="4718304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Oval 962"/>
          <p:cNvSpPr/>
          <p:nvPr/>
        </p:nvSpPr>
        <p:spPr>
          <a:xfrm>
            <a:off x="4846320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Oval 963"/>
          <p:cNvSpPr/>
          <p:nvPr/>
        </p:nvSpPr>
        <p:spPr>
          <a:xfrm>
            <a:off x="4974336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Oval 964"/>
          <p:cNvSpPr/>
          <p:nvPr/>
        </p:nvSpPr>
        <p:spPr>
          <a:xfrm>
            <a:off x="5102352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Oval 965"/>
          <p:cNvSpPr/>
          <p:nvPr/>
        </p:nvSpPr>
        <p:spPr>
          <a:xfrm>
            <a:off x="5230368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Oval 966"/>
          <p:cNvSpPr/>
          <p:nvPr/>
        </p:nvSpPr>
        <p:spPr>
          <a:xfrm>
            <a:off x="5358384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Oval 967"/>
          <p:cNvSpPr/>
          <p:nvPr/>
        </p:nvSpPr>
        <p:spPr>
          <a:xfrm>
            <a:off x="5486400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Oval 968"/>
          <p:cNvSpPr/>
          <p:nvPr/>
        </p:nvSpPr>
        <p:spPr>
          <a:xfrm>
            <a:off x="5614416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Oval 969"/>
          <p:cNvSpPr/>
          <p:nvPr/>
        </p:nvSpPr>
        <p:spPr>
          <a:xfrm>
            <a:off x="5742432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Oval 970"/>
          <p:cNvSpPr/>
          <p:nvPr/>
        </p:nvSpPr>
        <p:spPr>
          <a:xfrm>
            <a:off x="749808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Oval 971"/>
          <p:cNvSpPr/>
          <p:nvPr/>
        </p:nvSpPr>
        <p:spPr>
          <a:xfrm>
            <a:off x="877824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Oval 972"/>
          <p:cNvSpPr/>
          <p:nvPr/>
        </p:nvSpPr>
        <p:spPr>
          <a:xfrm>
            <a:off x="1005840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Oval 973"/>
          <p:cNvSpPr/>
          <p:nvPr/>
        </p:nvSpPr>
        <p:spPr>
          <a:xfrm>
            <a:off x="1133856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Oval 974"/>
          <p:cNvSpPr/>
          <p:nvPr/>
        </p:nvSpPr>
        <p:spPr>
          <a:xfrm>
            <a:off x="1261872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Oval 975"/>
          <p:cNvSpPr/>
          <p:nvPr/>
        </p:nvSpPr>
        <p:spPr>
          <a:xfrm>
            <a:off x="1389888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Oval 976"/>
          <p:cNvSpPr/>
          <p:nvPr/>
        </p:nvSpPr>
        <p:spPr>
          <a:xfrm>
            <a:off x="1517904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Oval 977"/>
          <p:cNvSpPr/>
          <p:nvPr/>
        </p:nvSpPr>
        <p:spPr>
          <a:xfrm>
            <a:off x="1645920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Oval 978"/>
          <p:cNvSpPr/>
          <p:nvPr/>
        </p:nvSpPr>
        <p:spPr>
          <a:xfrm>
            <a:off x="1773936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Oval 979"/>
          <p:cNvSpPr/>
          <p:nvPr/>
        </p:nvSpPr>
        <p:spPr>
          <a:xfrm>
            <a:off x="1901952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Oval 980"/>
          <p:cNvSpPr/>
          <p:nvPr/>
        </p:nvSpPr>
        <p:spPr>
          <a:xfrm>
            <a:off x="2029968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Oval 981"/>
          <p:cNvSpPr/>
          <p:nvPr/>
        </p:nvSpPr>
        <p:spPr>
          <a:xfrm>
            <a:off x="2157984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Oval 982"/>
          <p:cNvSpPr/>
          <p:nvPr/>
        </p:nvSpPr>
        <p:spPr>
          <a:xfrm>
            <a:off x="2286000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Oval 983"/>
          <p:cNvSpPr/>
          <p:nvPr/>
        </p:nvSpPr>
        <p:spPr>
          <a:xfrm>
            <a:off x="2414016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Oval 984"/>
          <p:cNvSpPr/>
          <p:nvPr/>
        </p:nvSpPr>
        <p:spPr>
          <a:xfrm>
            <a:off x="2542032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Oval 985"/>
          <p:cNvSpPr/>
          <p:nvPr/>
        </p:nvSpPr>
        <p:spPr>
          <a:xfrm>
            <a:off x="2670048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Oval 986"/>
          <p:cNvSpPr/>
          <p:nvPr/>
        </p:nvSpPr>
        <p:spPr>
          <a:xfrm>
            <a:off x="2798064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Oval 987"/>
          <p:cNvSpPr/>
          <p:nvPr/>
        </p:nvSpPr>
        <p:spPr>
          <a:xfrm>
            <a:off x="2926080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Oval 988"/>
          <p:cNvSpPr/>
          <p:nvPr/>
        </p:nvSpPr>
        <p:spPr>
          <a:xfrm>
            <a:off x="3054096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Oval 989"/>
          <p:cNvSpPr/>
          <p:nvPr/>
        </p:nvSpPr>
        <p:spPr>
          <a:xfrm>
            <a:off x="3182112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Oval 990"/>
          <p:cNvSpPr/>
          <p:nvPr/>
        </p:nvSpPr>
        <p:spPr>
          <a:xfrm>
            <a:off x="3310128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Oval 991"/>
          <p:cNvSpPr/>
          <p:nvPr/>
        </p:nvSpPr>
        <p:spPr>
          <a:xfrm>
            <a:off x="3438144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Oval 992"/>
          <p:cNvSpPr/>
          <p:nvPr/>
        </p:nvSpPr>
        <p:spPr>
          <a:xfrm>
            <a:off x="3566160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Oval 993"/>
          <p:cNvSpPr/>
          <p:nvPr/>
        </p:nvSpPr>
        <p:spPr>
          <a:xfrm>
            <a:off x="3694176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Oval 994"/>
          <p:cNvSpPr/>
          <p:nvPr/>
        </p:nvSpPr>
        <p:spPr>
          <a:xfrm>
            <a:off x="3822192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Oval 995"/>
          <p:cNvSpPr/>
          <p:nvPr/>
        </p:nvSpPr>
        <p:spPr>
          <a:xfrm>
            <a:off x="3950208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Oval 996"/>
          <p:cNvSpPr/>
          <p:nvPr/>
        </p:nvSpPr>
        <p:spPr>
          <a:xfrm>
            <a:off x="4078224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Oval 997"/>
          <p:cNvSpPr/>
          <p:nvPr/>
        </p:nvSpPr>
        <p:spPr>
          <a:xfrm>
            <a:off x="4206240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Oval 998"/>
          <p:cNvSpPr/>
          <p:nvPr/>
        </p:nvSpPr>
        <p:spPr>
          <a:xfrm>
            <a:off x="4334256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Oval 999"/>
          <p:cNvSpPr/>
          <p:nvPr/>
        </p:nvSpPr>
        <p:spPr>
          <a:xfrm>
            <a:off x="4462272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Oval 1000"/>
          <p:cNvSpPr/>
          <p:nvPr/>
        </p:nvSpPr>
        <p:spPr>
          <a:xfrm>
            <a:off x="4590288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Oval 1001"/>
          <p:cNvSpPr/>
          <p:nvPr/>
        </p:nvSpPr>
        <p:spPr>
          <a:xfrm>
            <a:off x="4718304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Oval 1002"/>
          <p:cNvSpPr/>
          <p:nvPr/>
        </p:nvSpPr>
        <p:spPr>
          <a:xfrm>
            <a:off x="4846320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Oval 1003"/>
          <p:cNvSpPr/>
          <p:nvPr/>
        </p:nvSpPr>
        <p:spPr>
          <a:xfrm>
            <a:off x="4974336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Oval 1004"/>
          <p:cNvSpPr/>
          <p:nvPr/>
        </p:nvSpPr>
        <p:spPr>
          <a:xfrm>
            <a:off x="5102352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Oval 1005"/>
          <p:cNvSpPr/>
          <p:nvPr/>
        </p:nvSpPr>
        <p:spPr>
          <a:xfrm>
            <a:off x="5230368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Oval 1006"/>
          <p:cNvSpPr/>
          <p:nvPr/>
        </p:nvSpPr>
        <p:spPr>
          <a:xfrm>
            <a:off x="5358384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Oval 1007"/>
          <p:cNvSpPr/>
          <p:nvPr/>
        </p:nvSpPr>
        <p:spPr>
          <a:xfrm>
            <a:off x="5486400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Oval 1008"/>
          <p:cNvSpPr/>
          <p:nvPr/>
        </p:nvSpPr>
        <p:spPr>
          <a:xfrm>
            <a:off x="5614416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Oval 1009"/>
          <p:cNvSpPr/>
          <p:nvPr/>
        </p:nvSpPr>
        <p:spPr>
          <a:xfrm>
            <a:off x="5742432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Oval 1010"/>
          <p:cNvSpPr/>
          <p:nvPr/>
        </p:nvSpPr>
        <p:spPr>
          <a:xfrm>
            <a:off x="763524" y="5198364"/>
            <a:ext cx="118872" cy="118872"/>
          </a:xfrm>
          <a:prstGeom prst="ellipse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TextBox 1011"/>
          <p:cNvSpPr txBox="1"/>
          <p:nvPr/>
        </p:nvSpPr>
        <p:spPr>
          <a:xfrm>
            <a:off x="1005840" y="5120640"/>
            <a:ext cx="45720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142E43"/>
                </a:solidFill>
                <a:latin typeface="DejaVu Sans"/>
              </a:defRPr>
            </a:pPr>
            <a:r>
              <a:t>Event with a detection</a:t>
            </a:r>
          </a:p>
        </p:txBody>
      </p:sp>
      <p:sp>
        <p:nvSpPr>
          <p:cNvPr id="1013" name="TextBox 1012"/>
          <p:cNvSpPr txBox="1"/>
          <p:nvPr/>
        </p:nvSpPr>
        <p:spPr>
          <a:xfrm>
            <a:off x="7452360" y="2148840"/>
            <a:ext cx="274320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480"/>
              </a:lnSpc>
              <a:spcAft>
                <a:spcPts val="0"/>
              </a:spcAft>
              <a:defRPr sz="5400" b="1">
                <a:solidFill>
                  <a:srgbClr val="007F83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1014" name="TextBox 1013"/>
          <p:cNvSpPr txBox="1"/>
          <p:nvPr/>
        </p:nvSpPr>
        <p:spPr>
          <a:xfrm>
            <a:off x="6583680" y="3154680"/>
            <a:ext cx="45720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00"/>
              </a:lnSpc>
              <a:spcAft>
                <a:spcPts val="0"/>
              </a:spcAft>
              <a:defRPr sz="2500" b="0">
                <a:solidFill>
                  <a:srgbClr val="142E43"/>
                </a:solidFill>
                <a:latin typeface="DejaVu Sans"/>
              </a:defRPr>
            </a:pPr>
            <a:r>
              <a:t>events produced a hit</a:t>
            </a:r>
          </a:p>
        </p:txBody>
      </p:sp>
      <p:sp>
        <p:nvSpPr>
          <p:cNvPr id="1015" name="Rectangle 1014"/>
          <p:cNvSpPr/>
          <p:nvPr/>
        </p:nvSpPr>
        <p:spPr>
          <a:xfrm>
            <a:off x="6583680" y="3977639"/>
            <a:ext cx="4663440" cy="1051560"/>
          </a:xfrm>
          <a:prstGeom prst="rect">
            <a:avLst/>
          </a:prstGeom>
          <a:solidFill>
            <a:srgbClr val="142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TextBox 1015"/>
          <p:cNvSpPr txBox="1"/>
          <p:nvPr/>
        </p:nvSpPr>
        <p:spPr>
          <a:xfrm>
            <a:off x="6812280" y="4233672"/>
            <a:ext cx="425196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0"/>
              </a:lnSpc>
              <a:spcAft>
                <a:spcPts val="0"/>
              </a:spcAft>
              <a:defRPr sz="3200" b="1">
                <a:solidFill>
                  <a:srgbClr val="FFFFFF"/>
                </a:solidFill>
                <a:latin typeface="DejaVu Sans"/>
              </a:defRPr>
            </a:pPr>
            <a:r>
              <a:t>3 / 1,000 = 0.3%</a:t>
            </a:r>
          </a:p>
        </p:txBody>
      </p:sp>
      <p:sp>
        <p:nvSpPr>
          <p:cNvPr id="1017" name="TextBox 1016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The map should estimate the underlying chance of detection—not reproduce every random count.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Repeat the same simulation: the count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9728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00"/>
              </a:lnSpc>
              <a:spcAft>
                <a:spcPts val="0"/>
              </a:spcAft>
              <a:defRPr sz="2500" b="0">
                <a:solidFill>
                  <a:srgbClr val="142E43"/>
                </a:solidFill>
                <a:latin typeface="DejaVu Sans"/>
              </a:defRPr>
            </a:pPr>
            <a:r>
              <a:t>Same voxel. Same physics. Same 1,000 events per run.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560320"/>
            <a:ext cx="288036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852928"/>
            <a:ext cx="237744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007F83"/>
                </a:solidFill>
                <a:latin typeface="DejaVu Sans"/>
              </a:defRPr>
            </a:pPr>
            <a:r>
              <a:t>0 hits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749039"/>
            <a:ext cx="23774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Aft>
                <a:spcPts val="0"/>
              </a:spcAft>
              <a:defRPr sz="2900" b="0">
                <a:solidFill>
                  <a:srgbClr val="142E43"/>
                </a:solidFill>
                <a:latin typeface="DejaVu Sans"/>
              </a:defRPr>
            </a:pPr>
            <a:r>
              <a:t>0.0%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2560320"/>
            <a:ext cx="288036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2852928"/>
            <a:ext cx="237744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007F83"/>
                </a:solidFill>
                <a:latin typeface="DejaVu Sans"/>
              </a:defRPr>
            </a:pPr>
            <a:r>
              <a:t>2 hits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749039"/>
            <a:ext cx="23774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Aft>
                <a:spcPts val="0"/>
              </a:spcAft>
              <a:defRPr sz="2900" b="0">
                <a:solidFill>
                  <a:srgbClr val="142E43"/>
                </a:solidFill>
                <a:latin typeface="DejaVu Sans"/>
              </a:defRPr>
            </a:pPr>
            <a:r>
              <a:t>0.2%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2560320"/>
            <a:ext cx="288036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852928"/>
            <a:ext cx="237744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007F83"/>
                </a:solidFill>
                <a:latin typeface="DejaVu Sans"/>
              </a:defRPr>
            </a:pPr>
            <a:r>
              <a:t>5 hits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23774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Aft>
                <a:spcPts val="0"/>
              </a:spcAft>
              <a:defRPr sz="2900" b="0">
                <a:solidFill>
                  <a:srgbClr val="142E43"/>
                </a:solidFill>
                <a:latin typeface="DejaVu Sans"/>
              </a:defRPr>
            </a:pPr>
            <a:r>
              <a:t>0.5%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1078992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03"/>
              </a:lnSpc>
              <a:spcAft>
                <a:spcPts val="0"/>
              </a:spcAft>
              <a:defRPr sz="2419" b="1">
                <a:solidFill>
                  <a:srgbClr val="142E43"/>
                </a:solidFill>
                <a:latin typeface="DejaVu Sans"/>
              </a:defRPr>
            </a:pPr>
            <a:r>
              <a:t>Different observations can come from the same probability.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This random variation is counting noise. Example values are illustrative.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Two routes from simulation data to an optical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691640"/>
            <a:ext cx="2057400" cy="5029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783080"/>
            <a:ext cx="1837943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DejaVu Sans"/>
              </a:defRPr>
            </a:pPr>
            <a:r>
              <a:t>RESuM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1691640"/>
            <a:ext cx="269748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34640" y="1691640"/>
            <a:ext cx="64008" cy="16002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63240" y="1892808"/>
            <a:ext cx="22402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42"/>
              </a:lnSpc>
              <a:spcAft>
                <a:spcPts val="0"/>
              </a:spcAft>
              <a:defRPr sz="1701" b="1">
                <a:solidFill>
                  <a:srgbClr val="007F83"/>
                </a:solidFill>
                <a:latin typeface="DejaVu Sans"/>
              </a:defRPr>
            </a:pPr>
            <a:r>
              <a:t>Event information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532888"/>
            <a:ext cx="22402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Event details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and hit labels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1691640"/>
            <a:ext cx="269748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52160" y="1691640"/>
            <a:ext cx="64008" cy="16002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1892808"/>
            <a:ext cx="22402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78"/>
              </a:lnSpc>
              <a:spcAft>
                <a:spcPts val="0"/>
              </a:spcAft>
              <a:defRPr sz="1981" b="1">
                <a:solidFill>
                  <a:srgbClr val="007F83"/>
                </a:solidFill>
                <a:latin typeface="DejaVu Sans"/>
              </a:defRPr>
            </a:pPr>
            <a:r>
              <a:t>Neural network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532888"/>
            <a:ext cx="22402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CNP learns event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patterns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69680" y="1691640"/>
            <a:ext cx="269748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69680" y="1691640"/>
            <a:ext cx="64008" cy="16002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1892808"/>
            <a:ext cx="22402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Spatial 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2532888"/>
            <a:ext cx="22402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GP combines the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summaries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212848"/>
            <a:ext cx="5486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0"/>
              </a:lnSpc>
              <a:spcAft>
                <a:spcPts val="0"/>
              </a:spcAft>
              <a:defRPr sz="3200" b="1">
                <a:solidFill>
                  <a:srgbClr val="007F83"/>
                </a:solidFill>
                <a:latin typeface="DejaVu Sans"/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3832" y="2212848"/>
            <a:ext cx="5486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0"/>
              </a:lnSpc>
              <a:spcAft>
                <a:spcPts val="0"/>
              </a:spcAft>
              <a:defRPr sz="3200" b="1">
                <a:solidFill>
                  <a:srgbClr val="007F83"/>
                </a:solidFill>
                <a:latin typeface="DejaVu Sans"/>
              </a:defRPr>
            </a:pPr>
            <a: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1352" y="2212848"/>
            <a:ext cx="5486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0"/>
              </a:lnSpc>
              <a:spcAft>
                <a:spcPts val="0"/>
              </a:spcAft>
              <a:defRPr sz="3200" b="1">
                <a:solidFill>
                  <a:srgbClr val="007F83"/>
                </a:solidFill>
                <a:latin typeface="DejaVu Sans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3977639"/>
            <a:ext cx="2057400" cy="5029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4069079"/>
            <a:ext cx="1837943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DejaVu Sans"/>
              </a:defRPr>
            </a:pPr>
            <a:r>
              <a:t>Binomial GP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34640" y="3977639"/>
            <a:ext cx="411480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34640" y="3977639"/>
            <a:ext cx="64008" cy="16002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63240" y="4178807"/>
            <a:ext cx="3657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Counts + 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4818888"/>
            <a:ext cx="365760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Position, hits, total events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480560"/>
            <a:ext cx="5486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0"/>
              </a:lnSpc>
              <a:spcAft>
                <a:spcPts val="0"/>
              </a:spcAft>
              <a:defRPr sz="3200" b="1">
                <a:solidFill>
                  <a:srgbClr val="007F83"/>
                </a:solidFill>
                <a:latin typeface="DejaVu Sans"/>
              </a:defRPr>
            </a:pPr>
            <a: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3977639"/>
            <a:ext cx="342900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977639"/>
            <a:ext cx="64008" cy="16002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66760" y="4178807"/>
            <a:ext cx="2971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Spatial map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4818888"/>
            <a:ext cx="297180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One probability field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A GP is a model that learns a smooth spatial pattern and uncertainty from observed locations.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5"/>
              </a:lnSpc>
              <a:spcAft>
                <a:spcPts val="0"/>
              </a:spcAft>
              <a:defRPr sz="2496" b="1">
                <a:solidFill>
                  <a:srgbClr val="142E43"/>
                </a:solidFill>
                <a:latin typeface="DejaVu Sans"/>
              </a:defRPr>
            </a:pPr>
            <a:r>
              <a:t>The binomial GP asks: what probability explains the counts?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40690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828800"/>
            <a:ext cx="64008" cy="14173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3611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Nearby voxel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670048"/>
            <a:ext cx="36118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1 hit / 500 events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886200"/>
            <a:ext cx="40690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886200"/>
            <a:ext cx="64008" cy="14173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087368"/>
            <a:ext cx="3611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Nearby voxel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727448"/>
            <a:ext cx="36118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15 hits / 5,000 events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3063240"/>
            <a:ext cx="6400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0"/>
              </a:lnSpc>
              <a:spcAft>
                <a:spcPts val="0"/>
              </a:spcAft>
              <a:defRPr sz="3200" b="1">
                <a:solidFill>
                  <a:srgbClr val="007F83"/>
                </a:solidFill>
                <a:latin typeface="DejaVu Sans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194560"/>
            <a:ext cx="4983480" cy="2560320"/>
          </a:xfrm>
          <a:prstGeom prst="rect">
            <a:avLst/>
          </a:prstGeom>
          <a:solidFill>
            <a:srgbClr val="142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2560320"/>
            <a:ext cx="434340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39"/>
              </a:lnSpc>
              <a:spcAft>
                <a:spcPts val="0"/>
              </a:spcAft>
              <a:defRPr sz="2366" b="1">
                <a:solidFill>
                  <a:srgbClr val="FFFFFF"/>
                </a:solidFill>
                <a:latin typeface="DejaVu Sans"/>
              </a:defRPr>
            </a:pPr>
            <a:r>
              <a:t>Learn the spatial</a:t>
            </a:r>
          </a:p>
          <a:p>
            <a:pPr>
              <a:lnSpc>
                <a:spcPts val="2839"/>
              </a:lnSpc>
              <a:spcAft>
                <a:spcPts val="0"/>
              </a:spcAft>
              <a:defRPr sz="2366" b="1">
                <a:solidFill>
                  <a:srgbClr val="FFFFFF"/>
                </a:solidFill>
                <a:latin typeface="DejaVu Sans"/>
              </a:defRPr>
            </a:pPr>
            <a:r>
              <a:t>pattern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566160"/>
            <a:ext cx="4343400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00"/>
              </a:lnSpc>
              <a:spcAft>
                <a:spcPts val="0"/>
              </a:spcAft>
              <a:defRPr sz="2500" b="0">
                <a:solidFill>
                  <a:srgbClr val="FFFFFF"/>
                </a:solidFill>
                <a:latin typeface="DejaVu Sans"/>
              </a:defRPr>
            </a:pPr>
            <a:r>
              <a:t>Use each count together</a:t>
            </a:r>
          </a:p>
          <a:p>
            <a:pPr>
              <a:lnSpc>
                <a:spcPts val="3000"/>
              </a:lnSpc>
              <a:spcAft>
                <a:spcPts val="0"/>
              </a:spcAft>
              <a:defRPr sz="2500" b="0">
                <a:solidFill>
                  <a:srgbClr val="FFFFFF"/>
                </a:solidFill>
                <a:latin typeface="DejaVu Sans"/>
              </a:defRPr>
            </a:pPr>
            <a:r>
              <a:t>with its simulation budget.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More simulated events generally provide a more precise observation. No extra fidelity function is needed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A larger simulation gives a steadier estimate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06</a:t>
            </a:r>
          </a:p>
        </p:txBody>
      </p:sp>
      <p:pic>
        <p:nvPicPr>
          <p:cNvPr id="9" name="Picture 8" descr="counting_budge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87657"/>
            <a:ext cx="10972800" cy="28826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5303520"/>
            <a:ext cx="105156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240"/>
              </a:lnSpc>
              <a:spcAft>
                <a:spcPts val="0"/>
              </a:spcAft>
              <a:defRPr sz="2700" b="1">
                <a:solidFill>
                  <a:srgbClr val="142E43"/>
                </a:solidFill>
                <a:latin typeface="DejaVu Sans"/>
              </a:defRPr>
            </a:pPr>
            <a:r>
              <a:t>Both simulations describe the same physics.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Illustration: the true detection probability is 0.3% in both panels. Dashed line = true probability.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Zero-hit simulations are useful information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20116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84831"/>
            <a:ext cx="15544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Aft>
                <a:spcPts val="0"/>
              </a:spcAft>
              <a:defRPr sz="2900" b="1">
                <a:solidFill>
                  <a:srgbClr val="007F83"/>
                </a:solidFill>
                <a:latin typeface="DejaVu Sans"/>
              </a:defRPr>
            </a:pPr>
            <a:r>
              <a:t>0 hits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1546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142E43"/>
                </a:solidFill>
                <a:latin typeface="DejaVu Sans"/>
              </a:defRPr>
            </a:pPr>
            <a:r>
              <a:t>1,000 events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99232" y="1828800"/>
            <a:ext cx="20116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27832" y="2084831"/>
            <a:ext cx="15544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Aft>
                <a:spcPts val="0"/>
              </a:spcAft>
              <a:defRPr sz="2900" b="1">
                <a:solidFill>
                  <a:srgbClr val="007F83"/>
                </a:solidFill>
                <a:latin typeface="DejaVu Sans"/>
              </a:defRPr>
            </a:pPr>
            <a:r>
              <a:t>0 hits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31546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142E43"/>
                </a:solidFill>
                <a:latin typeface="DejaVu Sans"/>
              </a:defRPr>
            </a:pPr>
            <a:r>
              <a:t>1,000 events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66944" y="1828800"/>
            <a:ext cx="20116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95544" y="2084831"/>
            <a:ext cx="15544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Aft>
                <a:spcPts val="0"/>
              </a:spcAft>
              <a:defRPr sz="2900" b="1">
                <a:solidFill>
                  <a:srgbClr val="007F83"/>
                </a:solidFill>
                <a:latin typeface="DejaVu Sans"/>
              </a:defRPr>
            </a:pPr>
            <a:r>
              <a:t>1 hit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22392" y="31546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142E43"/>
                </a:solidFill>
                <a:latin typeface="DejaVu Sans"/>
              </a:defRPr>
            </a:pPr>
            <a:r>
              <a:t>1,000 events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34656" y="1828800"/>
            <a:ext cx="20116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63256" y="2084831"/>
            <a:ext cx="15544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Aft>
                <a:spcPts val="0"/>
              </a:spcAft>
              <a:defRPr sz="2900" b="1">
                <a:solidFill>
                  <a:srgbClr val="007F83"/>
                </a:solidFill>
                <a:latin typeface="DejaVu Sans"/>
              </a:defRPr>
            </a:pPr>
            <a:r>
              <a:t>1 hit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0104" y="31546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142E43"/>
                </a:solidFill>
                <a:latin typeface="DejaVu Sans"/>
              </a:defRPr>
            </a:pPr>
            <a:r>
              <a:t>1,000 events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02368" y="1828800"/>
            <a:ext cx="20116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30968" y="2084831"/>
            <a:ext cx="15544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Aft>
                <a:spcPts val="0"/>
              </a:spcAft>
              <a:defRPr sz="2900" b="1">
                <a:solidFill>
                  <a:srgbClr val="007F83"/>
                </a:solidFill>
                <a:latin typeface="DejaVu Sans"/>
              </a:defRPr>
            </a:pPr>
            <a:r>
              <a:t>3 hits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57816" y="31546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142E43"/>
                </a:solidFill>
                <a:latin typeface="DejaVu Sans"/>
              </a:defRPr>
            </a:pPr>
            <a:r>
              <a:t>1,000 events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114800"/>
            <a:ext cx="507492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114800"/>
            <a:ext cx="64008" cy="13716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315968"/>
            <a:ext cx="4617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Keep all five runs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956048"/>
            <a:ext cx="461772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5 hits / 5,000 events = 0.10%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114800"/>
            <a:ext cx="507492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4114800"/>
            <a:ext cx="64008" cy="13716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4315968"/>
            <a:ext cx="4617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Keep only nonzero runs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956048"/>
            <a:ext cx="461772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5 hits / 3,000 events = 0.17%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Removing zero-hit files raises the observed average. A zero count does not mean zero probability.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Uncertainty answers two different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08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37360"/>
            <a:ext cx="54864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737360"/>
            <a:ext cx="64008" cy="19659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38528"/>
            <a:ext cx="50292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31"/>
              </a:lnSpc>
              <a:spcAft>
                <a:spcPts val="0"/>
              </a:spcAft>
              <a:defRPr sz="2192" b="1">
                <a:solidFill>
                  <a:srgbClr val="007F83"/>
                </a:solidFill>
                <a:latin typeface="DejaVu Sans"/>
              </a:defRPr>
            </a:pPr>
            <a:r>
              <a:t>How well do we know the map?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78608"/>
            <a:ext cx="502920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Only a few locations were simulated.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The true probability is uncertain.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530352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37360"/>
            <a:ext cx="64008" cy="19659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938528"/>
            <a:ext cx="48463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22"/>
              </a:lnSpc>
              <a:spcAft>
                <a:spcPts val="0"/>
              </a:spcAft>
              <a:defRPr sz="2018" b="1">
                <a:solidFill>
                  <a:srgbClr val="007F83"/>
                </a:solidFill>
                <a:latin typeface="DejaVu Sans"/>
              </a:defRPr>
            </a:pPr>
            <a:r>
              <a:t>What would a new run observe?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578608"/>
            <a:ext cx="484632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Even at a known probability,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a finite simulation produces random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counts.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4434840"/>
            <a:ext cx="3931920" cy="73152"/>
          </a:xfrm>
          <a:prstGeom prst="rect">
            <a:avLst/>
          </a:prstGeom>
          <a:solidFill>
            <a:srgbClr val="536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0" y="4233672"/>
            <a:ext cx="1188720" cy="457200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63240" y="4361688"/>
            <a:ext cx="182880" cy="182880"/>
          </a:xfrm>
          <a:prstGeom prst="ellipse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0" y="4434840"/>
            <a:ext cx="3931920" cy="73152"/>
          </a:xfrm>
          <a:prstGeom prst="rect">
            <a:avLst/>
          </a:prstGeom>
          <a:solidFill>
            <a:srgbClr val="536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23760" y="4233672"/>
            <a:ext cx="3246120" cy="457200"/>
          </a:xfrm>
          <a:prstGeom prst="rect">
            <a:avLst/>
          </a:prstGeom>
          <a:solidFill>
            <a:srgbClr val="F4D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0" y="4361688"/>
            <a:ext cx="182880" cy="182880"/>
          </a:xfrm>
          <a:prstGeom prst="ellipse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074920"/>
            <a:ext cx="52120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0">
                <a:solidFill>
                  <a:srgbClr val="142E43"/>
                </a:solidFill>
                <a:latin typeface="DejaVu Sans"/>
              </a:defRPr>
            </a:pPr>
            <a:r>
              <a:t>Uncertainty in the probability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074920"/>
            <a:ext cx="52120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60"/>
              </a:lnSpc>
              <a:spcAft>
                <a:spcPts val="0"/>
              </a:spcAft>
              <a:defRPr sz="2050" b="0">
                <a:solidFill>
                  <a:srgbClr val="142E43"/>
                </a:solidFill>
                <a:latin typeface="DejaVu Sans"/>
              </a:defRPr>
            </a:pPr>
            <a:r>
              <a:t>Uncertainty in a new observed fraction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Both approaches must distinguish uncertainty in the map from variation between repeated simulations.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40"/>
              </a:lnSpc>
              <a:spcAft>
                <a:spcPts val="0"/>
              </a:spcAft>
              <a:defRPr sz="2950" b="1">
                <a:solidFill>
                  <a:srgbClr val="142E43"/>
                </a:solidFill>
                <a:latin typeface="DejaVu Sans"/>
              </a:defRPr>
            </a:pPr>
            <a:r>
              <a:t>RESuM uses more information, but has more stages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09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37360"/>
            <a:ext cx="5486400" cy="388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737360"/>
            <a:ext cx="64008" cy="38862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38528"/>
            <a:ext cx="50292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Why keep RESuM?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78608"/>
            <a:ext cx="5029200" cy="3017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Event features may explain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detections.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The CNP can learn useful patterns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before spatial interpolation.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It also provides event-level scores.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5303520" cy="388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37360"/>
            <a:ext cx="64008" cy="38862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938528"/>
            <a:ext cx="48463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What must we check?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578608"/>
            <a:ext cx="4846320" cy="3017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Denoising can introduce bias.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Mixup and training choices affect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the averaged predictions.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Extra stages need extra validation.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The choice depends on what information we need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37360"/>
            <a:ext cx="5486400" cy="388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737360"/>
            <a:ext cx="64008" cy="38862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38528"/>
            <a:ext cx="50292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Binomial GP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78608"/>
            <a:ext cx="5029200" cy="3017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Best starting point when: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we need a voxel probability map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and only simulation budgets differ.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Main strength: counts and N enter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directly.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Main limitation: no event-level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features.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5303520" cy="388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37360"/>
            <a:ext cx="64008" cy="38862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938528"/>
            <a:ext cx="48463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RESuM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578608"/>
            <a:ext cx="4846320" cy="3017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Worth retaining when: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event features and CNP denoising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add measurable predictive value.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Main strength: richer input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information.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Main limitation: a more complex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pipeline.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23"/>
              </a:lnSpc>
              <a:spcAft>
                <a:spcPts val="0"/>
              </a:spcAft>
              <a:defRPr sz="2519" b="1">
                <a:solidFill>
                  <a:srgbClr val="142E43"/>
                </a:solidFill>
                <a:latin typeface="DejaVu Sans"/>
              </a:defRPr>
            </a:pPr>
            <a:r>
              <a:t>The current model reproduces much of the spatial variation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11</a:t>
            </a:r>
          </a:p>
        </p:txBody>
      </p:sp>
      <p:pic>
        <p:nvPicPr>
          <p:cNvPr id="9" name="Picture 8" descr="count_gp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00200"/>
            <a:ext cx="5943600" cy="41605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178040" y="1783080"/>
            <a:ext cx="4343400" cy="3611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78040" y="1783080"/>
            <a:ext cx="64008" cy="361188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984248"/>
            <a:ext cx="38862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55 held-out HF voxels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624328"/>
            <a:ext cx="3886200" cy="274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Each dot is one voxel.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Typical absolute error: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0.068 percentage points.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51 / 55 observations fall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inside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the nominal 95.45%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intervals.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This checks the binomial GP on its own data split. It does not establish superiority over RESuM.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The next test should be a fair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12</a:t>
            </a:r>
          </a:p>
        </p:txBody>
      </p:sp>
      <p:sp>
        <p:nvSpPr>
          <p:cNvPr id="9" name="Oval 8"/>
          <p:cNvSpPr/>
          <p:nvPr/>
        </p:nvSpPr>
        <p:spPr>
          <a:xfrm>
            <a:off x="649224" y="1783079"/>
            <a:ext cx="457200" cy="457200"/>
          </a:xfrm>
          <a:prstGeom prst="ellipse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28800"/>
            <a:ext cx="2743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737360"/>
            <a:ext cx="98755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7F83"/>
                </a:solidFill>
                <a:latin typeface="DejaVu Sans"/>
              </a:defRPr>
            </a:pPr>
            <a:r>
              <a:t>Same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240280"/>
            <a:ext cx="987552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0">
                <a:solidFill>
                  <a:srgbClr val="142E43"/>
                </a:solidFill>
                <a:latin typeface="DejaVu Sans"/>
              </a:defRPr>
            </a:pPr>
            <a:r>
              <a:t>Same training files and held-out voxel locations.</a:t>
            </a:r>
          </a:p>
        </p:txBody>
      </p:sp>
      <p:sp>
        <p:nvSpPr>
          <p:cNvPr id="13" name="Oval 12"/>
          <p:cNvSpPr/>
          <p:nvPr/>
        </p:nvSpPr>
        <p:spPr>
          <a:xfrm>
            <a:off x="649224" y="2953511"/>
            <a:ext cx="457200" cy="457200"/>
          </a:xfrm>
          <a:prstGeom prst="ellipse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999232"/>
            <a:ext cx="2743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907791"/>
            <a:ext cx="98755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7F83"/>
                </a:solidFill>
                <a:latin typeface="DejaVu Sans"/>
              </a:defRPr>
            </a:pPr>
            <a:r>
              <a:t>Same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410711"/>
            <a:ext cx="987552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0">
                <a:solidFill>
                  <a:srgbClr val="142E43"/>
                </a:solidFill>
                <a:latin typeface="DejaVu Sans"/>
              </a:defRPr>
            </a:pPr>
            <a:r>
              <a:t>Same primary events, including zero-hit runs.</a:t>
            </a:r>
          </a:p>
        </p:txBody>
      </p:sp>
      <p:sp>
        <p:nvSpPr>
          <p:cNvPr id="17" name="Oval 16"/>
          <p:cNvSpPr/>
          <p:nvPr/>
        </p:nvSpPr>
        <p:spPr>
          <a:xfrm>
            <a:off x="649224" y="4123944"/>
            <a:ext cx="457200" cy="457200"/>
          </a:xfrm>
          <a:prstGeom prst="ellipse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4169663"/>
            <a:ext cx="2743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78224"/>
            <a:ext cx="98755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7F83"/>
                </a:solidFill>
                <a:latin typeface="DejaVu Sans"/>
              </a:defRPr>
            </a:pPr>
            <a:r>
              <a:t>Three questions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581144"/>
            <a:ext cx="987552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20"/>
              </a:lnSpc>
              <a:spcAft>
                <a:spcPts val="0"/>
              </a:spcAft>
              <a:defRPr sz="2100" b="0">
                <a:solidFill>
                  <a:srgbClr val="142E43"/>
                </a:solidFill>
                <a:latin typeface="DejaVu Sans"/>
              </a:defRPr>
            </a:pPr>
            <a:r>
              <a:t>Are means accurate, intervals useful, and nearby voxels predicted well?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Use the binomial GP as the simple baseline; retain RESuM if its extra information improves matched tests.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APPENDIX • EQUATIONS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Technical appendix: what is the binomial GP?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37360"/>
            <a:ext cx="54864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737360"/>
            <a:ext cx="64008" cy="19659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38528"/>
            <a:ext cx="50292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1 Spatial 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78608"/>
            <a:ext cx="502920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f(s) ~ GP(0, k)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p(s) = 1 / [1 + exp(−f(s))]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530352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37360"/>
            <a:ext cx="64008" cy="19659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938528"/>
            <a:ext cx="48463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2 Counts at each voxel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578608"/>
            <a:ext cx="484632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mᵢ ~ Binomial(Nᵢ, p(sᵢ))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Nᵢ is known; p(sᵢ) is inferred.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06240"/>
            <a:ext cx="10515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79"/>
              </a:lnSpc>
              <a:spcAft>
                <a:spcPts val="0"/>
              </a:spcAft>
              <a:defRPr sz="2400" b="1">
                <a:solidFill>
                  <a:srgbClr val="142E43"/>
                </a:solidFill>
                <a:latin typeface="DejaVu Sans"/>
              </a:defRPr>
            </a:pPr>
            <a:r>
              <a:t>Predicted fraction variance at an exact location: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1051560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007F83"/>
                </a:solidFill>
                <a:latin typeface="DejaVu Sans"/>
              </a:defRPr>
            </a:pPr>
            <a:r>
              <a:t>Var(R | s, D) = Var(P | s, D) + E[P(1 − P) | s, D] / 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First term: uncertainty in the map. Second term: counting noise. Inference uses a Laplace approximation.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APPENDIX •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Technical appendix: the saved runs differ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2253996" cy="530352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2057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FFFFFF"/>
                </a:solidFill>
                <a:latin typeface="DejaVu Sans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2788920" y="1691640"/>
            <a:ext cx="4174235" cy="530352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07791" y="1810512"/>
            <a:ext cx="397763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FFFFFF"/>
                </a:solidFill>
                <a:latin typeface="DejaVu Sans"/>
              </a:defRPr>
            </a:pPr>
            <a:r>
              <a:t>Saved RESuM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59" y="1691640"/>
            <a:ext cx="4631436" cy="530352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14031" y="1810512"/>
            <a:ext cx="4434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FFFFFF"/>
                </a:solidFill>
                <a:latin typeface="DejaVu Sans"/>
              </a:defRPr>
            </a:pPr>
            <a:r>
              <a:t>Saved binomial GP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58568"/>
            <a:ext cx="2253996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368296"/>
            <a:ext cx="205740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LF training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258568"/>
            <a:ext cx="4174235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07791" y="2368296"/>
            <a:ext cx="3977639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159 nonzero N1500 voxels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95159" y="2258568"/>
            <a:ext cx="4631436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14031" y="2368296"/>
            <a:ext cx="44348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760 across N500–N1500; includes zeros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71800"/>
            <a:ext cx="2253996" cy="690372"/>
          </a:xfrm>
          <a:prstGeom prst="rect">
            <a:avLst/>
          </a:prstGeom>
          <a:solidFill>
            <a:srgbClr val="E8E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081528"/>
            <a:ext cx="205740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HF training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971800"/>
            <a:ext cx="4174235" cy="690372"/>
          </a:xfrm>
          <a:prstGeom prst="rect">
            <a:avLst/>
          </a:prstGeom>
          <a:solidFill>
            <a:srgbClr val="E8E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07791" y="3081528"/>
            <a:ext cx="3977639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10 nonzero voxels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95159" y="2971800"/>
            <a:ext cx="4631436" cy="690372"/>
          </a:xfrm>
          <a:prstGeom prst="rect">
            <a:avLst/>
          </a:prstGeom>
          <a:solidFill>
            <a:srgbClr val="E8E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14031" y="3081528"/>
            <a:ext cx="44348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10 voxels, including 1 zero-hit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685032"/>
            <a:ext cx="2253996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3794760"/>
            <a:ext cx="205740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HF validation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685032"/>
            <a:ext cx="4174235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07791" y="3794760"/>
            <a:ext cx="3977639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46 nonzero voxels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95159" y="3685032"/>
            <a:ext cx="4631436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14031" y="3794760"/>
            <a:ext cx="44348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55 voxels, including 8 zero-hit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98264"/>
            <a:ext cx="2253996" cy="690372"/>
          </a:xfrm>
          <a:prstGeom prst="rect">
            <a:avLst/>
          </a:prstGeom>
          <a:solidFill>
            <a:srgbClr val="E8E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4507992"/>
            <a:ext cx="205740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HF primary budget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398264"/>
            <a:ext cx="4174235" cy="690372"/>
          </a:xfrm>
          <a:prstGeom prst="rect">
            <a:avLst/>
          </a:prstGeom>
          <a:solidFill>
            <a:srgbClr val="E8E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07791" y="4507992"/>
            <a:ext cx="3977639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4936 after context removal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95159" y="4398264"/>
            <a:ext cx="4631436" cy="690372"/>
          </a:xfrm>
          <a:prstGeom prst="rect">
            <a:avLst/>
          </a:prstGeom>
          <a:solidFill>
            <a:srgbClr val="E8E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14031" y="4507992"/>
            <a:ext cx="44348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Full 5000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Different data and targets can change results independently of the modeling approach.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APPENDIX •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References and provenance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9164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Background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40280"/>
            <a:ext cx="10972800" cy="2194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80"/>
              </a:lnSpc>
              <a:spcAft>
                <a:spcPts val="0"/>
              </a:spcAft>
              <a:defRPr sz="1900" b="0">
                <a:solidFill>
                  <a:srgbClr val="142E43"/>
                </a:solidFill>
                <a:latin typeface="DejaVu Sans"/>
              </a:defRPr>
            </a:pPr>
            <a:r>
              <a:t>Conditional Neural Processes — Garnelo et al. (2018)</a:t>
            </a:r>
          </a:p>
          <a:p>
            <a:pPr>
              <a:lnSpc>
                <a:spcPts val="2280"/>
              </a:lnSpc>
              <a:spcAft>
                <a:spcPts val="0"/>
              </a:spcAft>
              <a:defRPr sz="1900" b="0">
                <a:solidFill>
                  <a:srgbClr val="142E43"/>
                </a:solidFill>
                <a:latin typeface="DejaVu Sans"/>
              </a:defRPr>
            </a:pPr>
            <a:r>
              <a:t>https://proceedings.mlr.press/v80/garnelo18a.html</a:t>
            </a:r>
          </a:p>
          <a:p>
            <a:pPr>
              <a:lnSpc>
                <a:spcPts val="2280"/>
              </a:lnSpc>
              <a:spcAft>
                <a:spcPts val="0"/>
              </a:spcAft>
              <a:defRPr sz="19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280"/>
              </a:lnSpc>
              <a:spcAft>
                <a:spcPts val="0"/>
              </a:spcAft>
              <a:defRPr sz="1900" b="0">
                <a:solidFill>
                  <a:srgbClr val="142E43"/>
                </a:solidFill>
                <a:latin typeface="DejaVu Sans"/>
              </a:defRPr>
            </a:pPr>
            <a:r>
              <a:t>Gaussian Processes for Machine Learning — Rasmussen &amp; Williams, Ch. 3</a:t>
            </a:r>
          </a:p>
          <a:p>
            <a:pPr>
              <a:lnSpc>
                <a:spcPts val="2280"/>
              </a:lnSpc>
              <a:spcAft>
                <a:spcPts val="0"/>
              </a:spcAft>
              <a:defRPr sz="1900" b="0">
                <a:solidFill>
                  <a:srgbClr val="142E43"/>
                </a:solidFill>
                <a:latin typeface="DejaVu Sans"/>
              </a:defRPr>
            </a:pPr>
            <a:r>
              <a:t>https://gaussianprocess.org/gpml/chapters/RW3.pdf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7200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Local implementation and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120640"/>
            <a:ext cx="10972800" cy="7772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142E43"/>
                </a:solidFill>
                <a:latin typeface="DejaVu Sans"/>
              </a:defRPr>
            </a:pPr>
            <a:r>
              <a:t>RESUM_FLEX: core/binomial_gp.py and core/surrogates/mfgp_stage.py</a:t>
            </a:r>
          </a:p>
          <a:p>
            <a:pPr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142E43"/>
                </a:solidFill>
                <a:latin typeface="DejaVu Sans"/>
              </a:defRPr>
            </a:pPr>
            <a:r>
              <a:t>Count-GP run 20261001T173754_521023Z • RESuM run 20260930T195141_282030Z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LAr optical map | Binomial GP and RESuM</dc:title>
  <dc:subject>Count likelihood, population inference, uncertainty and model comparison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