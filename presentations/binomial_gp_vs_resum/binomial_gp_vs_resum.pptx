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current RESUM_FLEX optical implementation. LF/HF differ only in statistics according to the simulation setup supplied by the user. This is not a claim that all multifidelity applications share the same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 counts primary events with at least one selected optical hit, not total photons or total detector hits. N is read from the full run. One primary per event is checked. Duplicate files and correlated simulations must not be treated as independent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Implemented in core/binomial_gp.py. A Gaussian prior over log-odds, binomial-logistic likelihood and Laplace approximation. Kernel is ARD Matérn-5/2 plus Bias, with an RBF option. Hyperparameters are optimized, not marginalized. GPML chapter 3: https://gaussianprocess.org/gpml/chapters/RW3.pdf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calculation, not fitted results. p=0.003; E[M]=Np; SD(M/N)=sqrt(p(1-p)/N); P(M=0)=(1-p)^N. Assumes independent Bernoulli detections with a common voxel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optical implementation, not the full general RESuM framework. core/surrogates/mfgp_stage.py constructs three GP outputs: LF CNP mean, HF CNP mean, HF raw target fraction. Current log-space mode smooths HF training counts (m+0.5)/(N+1) and floors CNP means. CNP is the two-output model with theory-truth objective and class-aware mixup including context. CNP scale is not passed as GP observation noise. CNP background: https://proceedings.mlr.press/v80/garnelo18a.html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Comparison is specific to the current log-space RESuM implementation and the new count-GP backend. Multilevel GP outputs can represent related summaries even when simulation physics is shared; the direct model intentionally removes that extra hierarchy. The current count GP does not use individual event covariates.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 post-hoc test excludes learned Gaussian observation noise at prediction time, then draws binomial counts from a latent log-rate draw. It does not remove the influence of Gaussian noise during fitting. Log-rate exponentiation is not bounded by 1; invalid probability draws fail. Current binomial GP uses logistic support and the binomial likelihood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methodological advantages and risks, not an empirical ranking. Conditional binomial observations assume independence and a common probability for a fixed population at each voxel. A mismatch in primary distributions or simulator physics requires additional covariates or outputs. Dense GP inference and sampling remain limiting for large spatial grids.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Saved run: outputs/optical_binomial/20261001T173754_521023Z. metrics.json: mean_bias=8.460311281309119e-05; MAE=0.000679715079297195; RMSE=0.0010906247167854792; Pearson=0.84941159489633. Evaluation uses all 5000 primaries per HF voxel. Coverage is 40/55, 51/55, 54/55. No retraining was done to prepare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GP: outputs/optical_binomial/20261001T173754_521023Z/counts.json. RESuM: outputs/optical_resum/notebook/20260930T195141_282030Z/mfgp/model.json and ../experiment.json. Count training comprises N500:85, N750:227, N1000:224, N1500:224, total760 plus10HF. RESuM historical run uses LF1500 nonzero and 10HF; 46HF validation target fractions exclude64context events. Comparison must keep locations and event-count targets identical. No winner is inferred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pipelines now share core/spatial_projections.py and backend adapters. Marginalization averages each correlated probability-function draw before quantiles. Predictive projections mix omitted-coordinate locations and binomial counts; their marginal coverage need not equal exact-coordinate coverage. Domain, spatial weights and N must match for a fair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metrics are implemented in core/gp_metrics.py. Compare scores only for identical targets and evaluation samples. Continuous Gaussian/lognormal density NLL is not directly comparable to discrete binomial count-mass NLL. Spatial blocks and distance-to-training checks are recommended future evaluation work, not claimed as completed.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for the stated same-physics, different-statistics optical-map problem. Retain RESuM as a competing event-informed approach. The mixed-likelihood CNP LF + binomial HF MFGP was discussed but deferred and is not implemented. No model is asserted to be superior from unmatched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references and exact local artifacts supporting this deck. The GPML source supports logistic GP classification and Laplace inference; the binomial-count formulation is the grouped Bernoulli model used here. CNP reference is background; RESuM-specific details were checked in local source rather than attributed to that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One optical map, different simulation budgets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97280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680"/>
              </a:lnSpc>
              <a:spcAft>
                <a:spcPts val="0"/>
              </a:spcAft>
              <a:defRPr sz="3900" b="1">
                <a:solidFill>
                  <a:srgbClr val="007F83"/>
                </a:solidFill>
                <a:latin typeface="DejaVu Sans"/>
              </a:defRPr>
            </a:pPr>
            <a:r>
              <a:t>Binomial GP and RESuM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058400" cy="1097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40"/>
              </a:lnSpc>
              <a:spcAft>
                <a:spcPts val="0"/>
              </a:spcAft>
              <a:defRPr sz="2700" b="0">
                <a:solidFill>
                  <a:srgbClr val="142E43"/>
                </a:solidFill>
                <a:latin typeface="DejaVu Sans"/>
              </a:defRPr>
            </a:pPr>
            <a:r>
              <a:t>Predict population-level detection probability</a:t>
            </a:r>
          </a:p>
          <a:p>
            <a:pPr>
              <a:lnSpc>
                <a:spcPts val="3240"/>
              </a:lnSpc>
              <a:spcAft>
                <a:spcPts val="0"/>
              </a:spcAft>
              <a:defRPr sz="2700" b="0">
                <a:solidFill>
                  <a:srgbClr val="142E43"/>
                </a:solidFill>
                <a:latin typeface="DejaVu Sans"/>
              </a:defRPr>
            </a:pPr>
            <a:r>
              <a:t>throughout the liquid-argon volume.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617720"/>
            <a:ext cx="10789920" cy="804672"/>
          </a:xfrm>
          <a:prstGeom prst="rect">
            <a:avLst/>
          </a:prstGeom>
          <a:solidFill>
            <a:srgbClr val="14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828032"/>
            <a:ext cx="103327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0">
                <a:solidFill>
                  <a:srgbClr val="FFFFFF"/>
                </a:solidFill>
                <a:latin typeface="DejaVu Sans"/>
              </a:defRPr>
            </a:pPr>
            <a:r>
              <a:t>Which statistical model best uses sparse simulation counts?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The data are counts, not just noisy fractions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43687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22402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Per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691640"/>
            <a:ext cx="444855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810512"/>
            <a:ext cx="42519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Meaning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691640"/>
            <a:ext cx="4174235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71232" y="1810512"/>
            <a:ext cx="397763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Role in the count GP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2436876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368296"/>
            <a:ext cx="224028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s = (x, y, z)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2258568"/>
            <a:ext cx="4448556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0672" y="2368296"/>
            <a:ext cx="4251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Physical voxel center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258568"/>
            <a:ext cx="4174235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2" y="2368296"/>
            <a:ext cx="3977639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Spatial input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44368"/>
            <a:ext cx="2436876" cy="66294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054096"/>
            <a:ext cx="224028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944368"/>
            <a:ext cx="4448556" cy="66294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90672" y="3054096"/>
            <a:ext cx="4251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Primaries with at least one hit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60" y="2944368"/>
            <a:ext cx="4174235" cy="66294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71232" y="3054096"/>
            <a:ext cx="3977639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Integer observation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630168"/>
            <a:ext cx="2436876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739896"/>
            <a:ext cx="224028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630168"/>
            <a:ext cx="4448556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90672" y="3739896"/>
            <a:ext cx="4251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Total simulated primaries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2360" y="3630168"/>
            <a:ext cx="4174235" cy="662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2" y="3739896"/>
            <a:ext cx="3977639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Known likelihood parameter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315968"/>
            <a:ext cx="2436876" cy="66294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425696"/>
            <a:ext cx="224028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y = m / 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71800" y="4315968"/>
            <a:ext cx="4448556" cy="66294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90672" y="4425696"/>
            <a:ext cx="4251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Observed detection fraction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4315968"/>
            <a:ext cx="4174235" cy="66294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71232" y="4425696"/>
            <a:ext cx="3977639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Reporting and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Same physics + same primary-generation distribution → one shared p(s).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The binomial GP learns a shared probability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0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32461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5029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Spatial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5029200" cy="2377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f(s) ~ GP(0, k)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p(s) = 1 / [1 + exp(−f(s))]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Probabilities stay between 0 and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539496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37360"/>
            <a:ext cx="64008" cy="32461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49377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Count observations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78608"/>
            <a:ext cx="4937760" cy="23774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mᵢ | f(sᵢ), Nᵢ ~ Binomial(Nᵢ, p(sᵢ))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Different N, same probability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function.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Zero counts enter without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pseudocounts.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Laplace inference • spatial kernel + constant component • training-only coordinate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The primary budget determines counting precision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7F83"/>
                </a:solidFill>
                <a:latin typeface="DejaVu Sans"/>
              </a:defRPr>
            </a:pPr>
            <a:r>
              <a:t>Example: a voxel with p = 0.003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225399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267712"/>
            <a:ext cx="2057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Primaries 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2148840"/>
            <a:ext cx="280263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07791" y="2267712"/>
            <a:ext cx="26060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Expected detections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59" y="2148840"/>
            <a:ext cx="3442715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1" y="2267712"/>
            <a:ext cx="3246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SD of observed fraction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2148840"/>
            <a:ext cx="2528315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2267712"/>
            <a:ext cx="23317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P(zero detections)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15768"/>
            <a:ext cx="2253996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825496"/>
            <a:ext cx="205740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715768"/>
            <a:ext cx="2802636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1" y="2825496"/>
            <a:ext cx="26060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1.5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59" y="2715768"/>
            <a:ext cx="3442715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42431" y="2825496"/>
            <a:ext cx="32461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0.00245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715768"/>
            <a:ext cx="2528315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2825496"/>
            <a:ext cx="23317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0.223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429000"/>
            <a:ext cx="2253996" cy="690372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538728"/>
            <a:ext cx="205740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1500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3429000"/>
            <a:ext cx="2802636" cy="690372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7791" y="3538728"/>
            <a:ext cx="26060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4.5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23559" y="3429000"/>
            <a:ext cx="3442715" cy="690372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2431" y="3538728"/>
            <a:ext cx="32461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0.00141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8280" y="3429000"/>
            <a:ext cx="2528315" cy="690372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17152" y="3538728"/>
            <a:ext cx="23317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0.011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142232"/>
            <a:ext cx="2253996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251960"/>
            <a:ext cx="205740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5000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88920" y="4142232"/>
            <a:ext cx="2802636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07791" y="4251960"/>
            <a:ext cx="260604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15.0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59" y="4142232"/>
            <a:ext cx="3442715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42431" y="4251960"/>
            <a:ext cx="32461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0.00077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98280" y="4142232"/>
            <a:ext cx="2528315" cy="6903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152" y="4251960"/>
            <a:ext cx="2331720" cy="603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2.99e-07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193792"/>
            <a:ext cx="10972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  <a:defRPr sz="2100" b="0">
                <a:solidFill>
                  <a:srgbClr val="142E43"/>
                </a:solidFill>
                <a:latin typeface="DejaVu Sans"/>
              </a:defRPr>
            </a:pPr>
            <a:r>
              <a:t>A zero-hit file is evidence for a low probability; it does not imply p = 0.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The likelihood accounts for N directly. No class balancing is required for this objective.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RESuM first denoises events, then learns the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2461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64008" cy="283464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2788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33"/>
              </a:lnSpc>
              <a:spcAft>
                <a:spcPts val="0"/>
              </a:spcAft>
              <a:defRPr sz="1610" b="1">
                <a:solidFill>
                  <a:srgbClr val="007F83"/>
                </a:solidFill>
                <a:latin typeface="DejaVu Sans"/>
              </a:defRPr>
            </a:pPr>
            <a:r>
              <a:t>1 Event representation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2788920" cy="1965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Primary features +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labels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Context / target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episodes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Class-aware mixup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828800"/>
            <a:ext cx="361188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828800"/>
            <a:ext cx="64008" cy="283464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029968"/>
            <a:ext cx="31546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2 CNP denoising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70048"/>
            <a:ext cx="3154680" cy="1965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Predict event scores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Average scores per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voxel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LF and HF summaries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70332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828800"/>
            <a:ext cx="64008" cy="283464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029968"/>
            <a:ext cx="32461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3 Spatial MFGP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670048"/>
            <a:ext cx="3246120" cy="1965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LF CNP means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HF CNP means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HF raw target fractions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834640"/>
            <a:ext cx="320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7F83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834640"/>
            <a:ext cx="320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007F83"/>
                </a:solidFill>
                <a:latin typeface="DejaVu Sans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Current GP stage: Gaussian likelihoods in log space, with learned noise per output 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The main difference is the observation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299715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2103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39" y="1691640"/>
            <a:ext cx="440283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1" y="1810512"/>
            <a:ext cx="42062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Current RESuM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79" y="1691640"/>
            <a:ext cx="435711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810512"/>
            <a:ext cx="41605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Binomial GP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2299715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368296"/>
            <a:ext cx="21031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Learning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39" y="2258568"/>
            <a:ext cx="4402836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1" y="2368296"/>
            <a:ext cx="42062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Event features → voxel summaries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2258568"/>
            <a:ext cx="4357116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2368296"/>
            <a:ext cx="4160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Voxel centers + integer 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07208"/>
            <a:ext cx="2299715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916936"/>
            <a:ext cx="21031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Spatial outputs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39" y="2807208"/>
            <a:ext cx="4402836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1" y="2916936"/>
            <a:ext cx="42062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Three related GP output levels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79" y="2807208"/>
            <a:ext cx="4357116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2916936"/>
            <a:ext cx="4160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One probability function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355848"/>
            <a:ext cx="2299715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465576"/>
            <a:ext cx="21031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Observation 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39" y="3355848"/>
            <a:ext cx="4402836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1" y="3465576"/>
            <a:ext cx="42062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Gaussian on transformed summaries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79" y="3355848"/>
            <a:ext cx="4357116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3465576"/>
            <a:ext cx="4160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Binomial on m given N and 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904487"/>
            <a:ext cx="2299715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014215"/>
            <a:ext cx="21031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Counting precision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39" y="3904487"/>
            <a:ext cx="4402836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53511" y="4014215"/>
            <a:ext cx="42062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Not explicitly set by each 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79" y="3904487"/>
            <a:ext cx="4357116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88352" y="4014215"/>
            <a:ext cx="4160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Determined by p and each 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453128"/>
            <a:ext cx="2299715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562856"/>
            <a:ext cx="21031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Zero-hit handling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39" y="4453128"/>
            <a:ext cx="4402836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3511" y="4562856"/>
            <a:ext cx="42062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Log-space smoothing / floors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79" y="4453128"/>
            <a:ext cx="4357116" cy="5257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88352" y="4562856"/>
            <a:ext cx="4160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Directly supported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001768"/>
            <a:ext cx="2299715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" y="5111496"/>
            <a:ext cx="21031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142E43"/>
                </a:solidFill>
                <a:latin typeface="DejaVu Sans"/>
              </a:defRPr>
            </a:pPr>
            <a:r>
              <a:t>Event-level predictions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34639" y="5001768"/>
            <a:ext cx="4402836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53511" y="5111496"/>
            <a:ext cx="42062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Available from the CNP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79" y="5001768"/>
            <a:ext cx="4357116" cy="525780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5111496"/>
            <a:ext cx="416052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Not provided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Counting noise belongs in training and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3566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64008" cy="36576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92808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83"/>
              </a:lnSpc>
              <a:spcAft>
                <a:spcPts val="0"/>
              </a:spcAft>
              <a:defRPr sz="1569" b="1">
                <a:solidFill>
                  <a:srgbClr val="007F83"/>
                </a:solidFill>
                <a:latin typeface="DejaVu Sans"/>
              </a:defRPr>
            </a:pPr>
            <a:r>
              <a:t>Original RESuM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3108960" cy="278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Gaussian noise learned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in log space.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Its scale may absorb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counting noise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and model mismatch.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Produces lognormal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response intervals.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566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91640"/>
            <a:ext cx="64008" cy="36576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92808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73"/>
              </a:lnSpc>
              <a:spcAft>
                <a:spcPts val="0"/>
              </a:spcAft>
              <a:defRPr sz="1894" b="1">
                <a:solidFill>
                  <a:srgbClr val="007F83"/>
                </a:solidFill>
                <a:latin typeface="DejaVu Sans"/>
              </a:defRPr>
            </a:pPr>
            <a:r>
              <a:t>RESuM diagnostic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32888"/>
            <a:ext cx="3108960" cy="278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Draw latent GP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probabilities,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then draw binomial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counts.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Changes the predictive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model;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training still used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Gaussian noise.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691640"/>
            <a:ext cx="356616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64008" cy="36576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892808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Binomial GP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32888"/>
            <a:ext cx="3108960" cy="278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Use the count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likelihood in fitting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and for new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simulations.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Prediction combines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latent uncertainty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with binomial counting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noise.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At a fixed voxel: Var(R | s, D) = Var(P | s, D) + E[P(1 − P) | s, D] / 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Strengths and limitations depend on the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53212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64008" cy="41148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92808"/>
            <a:ext cx="5074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RESuM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5074920" cy="3246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+ Uses event features and context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+ Can learn transferable denoising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+ Supports related fidelity outputs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− More training and modeling choices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− Mixup may bias mean scores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− CNP uncertainty not fully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propagated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53492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64008" cy="411480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92808"/>
            <a:ext cx="48920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Binomial GP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32888"/>
            <a:ext cx="4892040" cy="3246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+ Direct link from counts to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probability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+ Handles zero hits and variable N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+ Fewer stages; easier to audit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− Discards event-level features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− Binomial assumptions may fail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− Approximate posterior; dense GP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Current binomial-GP validation: 55 HF voxels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09</a:t>
            </a:r>
          </a:p>
        </p:txBody>
      </p:sp>
      <p:pic>
        <p:nvPicPr>
          <p:cNvPr id="9" name="Picture 8" descr="hf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654" y="1463040"/>
            <a:ext cx="9462211" cy="3639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5285232"/>
            <a:ext cx="10972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07F83"/>
                </a:solidFill>
                <a:latin typeface="DejaVu Sans"/>
              </a:defRPr>
            </a:pPr>
            <a:r>
              <a:t>Bias +0.000085 MAE 0.000680 RMSE 0.001091 Pearson r 0.849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Coverage: 72.7% / 92.7% / 98.2%. A 55-voxel sample cannot establish 99.7% calibration.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The saved runs are not a controlled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39115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810512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78"/>
              </a:lnSpc>
              <a:spcAft>
                <a:spcPts val="0"/>
              </a:spcAft>
              <a:defRPr sz="1482" b="1">
                <a:solidFill>
                  <a:srgbClr val="FFFFFF"/>
                </a:solidFill>
                <a:latin typeface="DejaVu Sans"/>
              </a:defRPr>
            </a:pPr>
            <a:r>
              <a:t>Dataset / evaluation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691640"/>
            <a:ext cx="408279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810512"/>
            <a:ext cx="3886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Saved RESuM run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691640"/>
            <a:ext cx="4585716" cy="530352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2" y="1810512"/>
            <a:ext cx="438912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1">
                <a:solidFill>
                  <a:srgbClr val="FFFFFF"/>
                </a:solidFill>
                <a:latin typeface="DejaVu Sans"/>
              </a:defRPr>
            </a:pPr>
            <a:r>
              <a:t>Saved binomial-GP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258568"/>
            <a:ext cx="239115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368296"/>
            <a:ext cx="219456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LF 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258568"/>
            <a:ext cx="408279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4952" y="2368296"/>
            <a:ext cx="388620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159 nonzero N1500 voxels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258568"/>
            <a:ext cx="458571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59752" y="2368296"/>
            <a:ext cx="438912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760 across N500–N1500; zeros included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862072"/>
            <a:ext cx="2391156" cy="580644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971800"/>
            <a:ext cx="219456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HF 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862072"/>
            <a:ext cx="4082796" cy="580644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2971800"/>
            <a:ext cx="388620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10 nonzero voxels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2862072"/>
            <a:ext cx="4585716" cy="580644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2" y="2971800"/>
            <a:ext cx="438912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10 voxels; 1 zero-hit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465576"/>
            <a:ext cx="239115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3575304"/>
            <a:ext cx="219456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HF 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0" y="3465576"/>
            <a:ext cx="408279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3575304"/>
            <a:ext cx="388620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46 nonzero voxels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3465576"/>
            <a:ext cx="458571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2" y="3575304"/>
            <a:ext cx="438912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55 voxels; 8 zero-hit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69080"/>
            <a:ext cx="2391156" cy="580644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4178808"/>
            <a:ext cx="219456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HF target budget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0" y="4069080"/>
            <a:ext cx="4082796" cy="580644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44952" y="4178808"/>
            <a:ext cx="388620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4936 after context split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0880" y="4069080"/>
            <a:ext cx="4585716" cy="580644"/>
          </a:xfrm>
          <a:prstGeom prst="rect">
            <a:avLst/>
          </a:prstGeom>
          <a:solidFill>
            <a:srgbClr val="E8E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9752" y="4178808"/>
            <a:ext cx="438912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Full 5000 primaries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672584"/>
            <a:ext cx="239115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782312"/>
            <a:ext cx="219456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Interpretation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4672584"/>
            <a:ext cx="408279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44952" y="4782312"/>
            <a:ext cx="388620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Historical workflow 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4672584"/>
            <a:ext cx="4585716" cy="5806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59752" y="4782312"/>
            <a:ext cx="438912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42E43"/>
                </a:solidFill>
                <a:latin typeface="DejaVu Sans"/>
              </a:defRPr>
            </a:pPr>
            <a:r>
              <a:t>New dataset and likelihood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Use identical files, held-out locations and observed counts before attributing gains to a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Two projections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4864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64008" cy="35661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92808"/>
            <a:ext cx="50292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89"/>
              </a:lnSpc>
              <a:spcAft>
                <a:spcPts val="0"/>
              </a:spcAft>
              <a:defRPr sz="1991" b="1">
                <a:solidFill>
                  <a:srgbClr val="007F83"/>
                </a:solidFill>
                <a:latin typeface="DejaVu Sans"/>
              </a:defRPr>
            </a:pPr>
            <a:r>
              <a:t>Marginalized detection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32888"/>
            <a:ext cx="502920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Average over omitted coordinates.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p̄(x) = Eᵧ,z[p(x, Y, Z)]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Bands quantify uncertainty in an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average.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Joint spatial draws are essential.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91640"/>
            <a:ext cx="539496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91640"/>
            <a:ext cx="64008" cy="356616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92808"/>
            <a:ext cx="49377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Projected detection fractions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32888"/>
            <a:ext cx="4937760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Sample an omitted-coordinate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location.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Draw its probability, then M ~ Bin(N,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P).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Bands include spatial variation,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GP uncertainty and counting noise.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A point may miss its exact-coordinate interval yet lie inside the broader projected interval.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65"/>
              </a:lnSpc>
              <a:spcAft>
                <a:spcPts val="0"/>
              </a:spcAft>
              <a:defRPr sz="2804" b="1">
                <a:solidFill>
                  <a:srgbClr val="142E43"/>
                </a:solidFill>
                <a:latin typeface="DejaVu Sans"/>
              </a:defRPr>
            </a:pPr>
            <a:r>
              <a:t>Validation should test accuracy, uncertainty and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64008" cy="2560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38528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1">
                <a:solidFill>
                  <a:srgbClr val="007F83"/>
                </a:solidFill>
                <a:latin typeface="DejaVu Sans"/>
              </a:defRPr>
            </a:pPr>
            <a:r>
              <a:t>Mean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3108960" cy="16916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Bias: systematic shift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MAE / RMSE: absolute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error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Pearson / Spearman: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trend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64008" cy="2560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938528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72"/>
              </a:lnSpc>
              <a:spcAft>
                <a:spcPts val="0"/>
              </a:spcAft>
              <a:defRPr sz="1893" b="1">
                <a:solidFill>
                  <a:srgbClr val="007F83"/>
                </a:solidFill>
                <a:latin typeface="DejaVu Sans"/>
              </a:defRPr>
            </a:pPr>
            <a:r>
              <a:t>Predictive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78608"/>
            <a:ext cx="3108960" cy="16916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20"/>
              </a:lnSpc>
              <a:spcAft>
                <a:spcPts val="0"/>
              </a:spcAft>
              <a:defRPr sz="1850" b="0">
                <a:solidFill>
                  <a:srgbClr val="142E43"/>
                </a:solidFill>
                <a:latin typeface="DejaVu Sans"/>
              </a:defRPr>
            </a:pPr>
            <a:r>
              <a:t>Coverage + interval</a:t>
            </a:r>
          </a:p>
          <a:p>
            <a:pPr>
              <a:lnSpc>
                <a:spcPts val="2220"/>
              </a:lnSpc>
              <a:spcAft>
                <a:spcPts val="0"/>
              </a:spcAft>
              <a:defRPr sz="1850" b="0">
                <a:solidFill>
                  <a:srgbClr val="142E43"/>
                </a:solidFill>
                <a:latin typeface="DejaVu Sans"/>
              </a:defRPr>
            </a:pPr>
            <a:r>
              <a:t>width</a:t>
            </a:r>
          </a:p>
          <a:p>
            <a:pPr>
              <a:lnSpc>
                <a:spcPts val="2220"/>
              </a:lnSpc>
              <a:spcAft>
                <a:spcPts val="0"/>
              </a:spcAft>
              <a:defRPr sz="1850" b="0">
                <a:solidFill>
                  <a:srgbClr val="142E43"/>
                </a:solidFill>
                <a:latin typeface="DejaVu Sans"/>
              </a:defRPr>
            </a:pPr>
            <a:r>
              <a:t>CRPS / weighted interval</a:t>
            </a:r>
          </a:p>
          <a:p>
            <a:pPr>
              <a:lnSpc>
                <a:spcPts val="2220"/>
              </a:lnSpc>
              <a:spcAft>
                <a:spcPts val="0"/>
              </a:spcAft>
              <a:defRPr sz="1850" b="0">
                <a:solidFill>
                  <a:srgbClr val="142E43"/>
                </a:solidFill>
                <a:latin typeface="DejaVu Sans"/>
              </a:defRPr>
            </a:pPr>
            <a:r>
              <a:t>score</a:t>
            </a:r>
          </a:p>
          <a:p>
            <a:pPr>
              <a:lnSpc>
                <a:spcPts val="2220"/>
              </a:lnSpc>
              <a:spcAft>
                <a:spcPts val="0"/>
              </a:spcAft>
              <a:defRPr sz="1850" b="0">
                <a:solidFill>
                  <a:srgbClr val="142E43"/>
                </a:solidFill>
                <a:latin typeface="DejaVu Sans"/>
              </a:defRPr>
            </a:pPr>
            <a:r>
              <a:t>Likelihood with matching</a:t>
            </a:r>
          </a:p>
          <a:p>
            <a:pPr>
              <a:lnSpc>
                <a:spcPts val="2220"/>
              </a:lnSpc>
              <a:spcAft>
                <a:spcPts val="0"/>
              </a:spcAft>
              <a:defRPr sz="1850" b="0">
                <a:solidFill>
                  <a:srgbClr val="142E43"/>
                </a:solidFill>
                <a:latin typeface="DejaVu Sans"/>
              </a:defRPr>
            </a:pPr>
            <a:r>
              <a:t>measure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37360"/>
            <a:ext cx="35661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737360"/>
            <a:ext cx="64008" cy="2560320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938528"/>
            <a:ext cx="31089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19"/>
              </a:lnSpc>
              <a:spcAft>
                <a:spcPts val="0"/>
              </a:spcAft>
              <a:defRPr sz="1932" b="1">
                <a:solidFill>
                  <a:srgbClr val="007F83"/>
                </a:solidFill>
                <a:latin typeface="DejaVu Sans"/>
              </a:defRPr>
            </a:pPr>
            <a:r>
              <a:t>Spatial generalization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578608"/>
            <a:ext cx="3108960" cy="16916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Hold out spatial blocks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Include zero-hit voxels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Check distance to</a:t>
            </a:r>
          </a:p>
          <a:p>
            <a:pPr>
              <a:lnSpc>
                <a:spcPts val="2400"/>
              </a:lnSpc>
              <a:spcAft>
                <a:spcPts val="0"/>
              </a:spcAft>
              <a:defRPr sz="2000" b="0">
                <a:solidFill>
                  <a:srgbClr val="142E43"/>
                </a:solidFill>
                <a:latin typeface="DejaVu Sans"/>
              </a:defRPr>
            </a:pPr>
            <a:r>
              <a:t>training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11064240" cy="868680"/>
          </a:xfrm>
          <a:prstGeom prst="rect">
            <a:avLst/>
          </a:prstGeom>
          <a:solidFill>
            <a:srgbClr val="14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28032"/>
            <a:ext cx="106984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Aft>
                <a:spcPts val="0"/>
              </a:spcAft>
              <a:defRPr sz="2100" b="0">
                <a:solidFill>
                  <a:srgbClr val="FFFFFF"/>
                </a:solidFill>
                <a:latin typeface="DejaVu Sans"/>
              </a:defRPr>
            </a:pPr>
            <a:r>
              <a:t>Use representative validation; neither approach can recover missing physics</a:t>
            </a:r>
          </a:p>
          <a:p>
            <a:pPr>
              <a:lnSpc>
                <a:spcPts val="2520"/>
              </a:lnSpc>
              <a:spcAft>
                <a:spcPts val="0"/>
              </a:spcAft>
              <a:defRPr sz="2100" b="0">
                <a:solidFill>
                  <a:srgbClr val="FFFFFF"/>
                </a:solidFill>
                <a:latin typeface="DejaVu Sans"/>
              </a:defRPr>
            </a:pPr>
            <a:r>
              <a:t>from a few widely separated voxels without assumptions.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Use the binomial GP as the count-level baseline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228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7F83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6984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0">
                <a:solidFill>
                  <a:srgbClr val="142E43"/>
                </a:solidFill>
                <a:latin typeface="DejaVu Sans"/>
              </a:defRPr>
            </a:pPr>
            <a:r>
              <a:t>Same physics, different N: start with a shared probability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28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7F83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106984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0">
                <a:solidFill>
                  <a:srgbClr val="142E43"/>
                </a:solidFill>
                <a:latin typeface="DejaVu Sans"/>
              </a:defRPr>
            </a:pPr>
            <a:r>
              <a:t>Keep RESuM when event features or transferable denoising add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39"/>
            <a:ext cx="228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7F83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0439"/>
            <a:ext cx="106984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0">
                <a:solidFill>
                  <a:srgbClr val="142E43"/>
                </a:solidFill>
                <a:latin typeface="DejaVu Sans"/>
              </a:defRPr>
            </a:pPr>
            <a:r>
              <a:t>Compare on matched spatial splits and the same observed 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228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07F83"/>
                </a:solidFill>
                <a:latin typeface="DejaVu San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0698480" cy="868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Aft>
                <a:spcPts val="0"/>
              </a:spcAft>
              <a:defRPr sz="2300" b="0">
                <a:solidFill>
                  <a:srgbClr val="142E43"/>
                </a:solidFill>
                <a:latin typeface="DejaVu Sans"/>
              </a:defRPr>
            </a:pPr>
            <a:r>
              <a:t>Use a compact, densely sampled volume to test local interpolation.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852160"/>
            <a:ext cx="109728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Aft>
                <a:spcPts val="0"/>
              </a:spcAft>
              <a:defRPr sz="1500" b="0">
                <a:solidFill>
                  <a:srgbClr val="536777"/>
                </a:solidFill>
                <a:latin typeface="DejaVu Sans"/>
              </a:defRPr>
            </a:pPr>
            <a:r>
              <a:t>Deferred extension: Gaussian likelihood for CNP summaries + binomial likelihood for raw HF counts.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01752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007F83"/>
                </a:solidFill>
                <a:latin typeface="DejaVu Sans"/>
              </a:defRPr>
            </a:pPr>
            <a:r>
              <a:t>LAR OPTICAL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24712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142E43"/>
                </a:solidFill>
                <a:latin typeface="DejaVu Sans"/>
              </a:defRPr>
            </a:pPr>
            <a:r>
              <a:t>Sources and implementation provenance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64224"/>
            <a:ext cx="11155680" cy="13716"/>
          </a:xfrm>
          <a:prstGeom prst="rect">
            <a:avLst/>
          </a:prstGeom>
          <a:solidFill>
            <a:srgbClr val="D6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9144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RESUM_FLEX • Methods and saved-run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92240"/>
            <a:ext cx="4572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Aft>
                <a:spcPts val="0"/>
              </a:spcAft>
              <a:defRPr sz="1000" b="0">
                <a:solidFill>
                  <a:srgbClr val="536777"/>
                </a:solidFill>
                <a:latin typeface="DejaVu Sans"/>
              </a:defRPr>
            </a:pPr>
            <a: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7F83"/>
                </a:solidFill>
                <a:latin typeface="DejaVu Sans"/>
              </a:defRPr>
            </a:pPr>
            <a:r>
              <a:t>Method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0972800" cy="1920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142E43"/>
                </a:solidFill>
                <a:latin typeface="DejaVu Sans"/>
              </a:defRPr>
            </a:pPr>
            <a:r>
              <a:t>Garnelo et al. (2018), Conditional Neural Processes</a:t>
            </a:r>
          </a:p>
          <a:p>
            <a:pPr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142E43"/>
                </a:solidFill>
                <a:latin typeface="DejaVu Sans"/>
              </a:defRPr>
            </a:pPr>
            <a:r>
              <a:t>https://proceedings.mlr.press/v80/garnelo18a.html</a:t>
            </a:r>
          </a:p>
          <a:p>
            <a:pPr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142E43"/>
                </a:solidFill>
                <a:latin typeface="DejaVu Sans"/>
              </a:defRPr>
            </a:pPr>
          </a:p>
          <a:p>
            <a:pPr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142E43"/>
                </a:solidFill>
                <a:latin typeface="DejaVu Sans"/>
              </a:defRPr>
            </a:pPr>
            <a:r>
              <a:t>Rasmussen &amp; Williams (2006), GPML, Chapter 3</a:t>
            </a:r>
          </a:p>
          <a:p>
            <a:pPr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142E43"/>
                </a:solidFill>
                <a:latin typeface="DejaVu Sans"/>
              </a:defRPr>
            </a:pPr>
            <a:r>
              <a:t>https://gaussianprocess.org/gpml/chapters/RW3.pdf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10972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007F83"/>
                </a:solidFill>
                <a:latin typeface="DejaVu Sans"/>
              </a:defRPr>
            </a:pPr>
            <a:r>
              <a:t>Implementation and saved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709160"/>
            <a:ext cx="109728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42E43"/>
                </a:solidFill>
                <a:latin typeface="DejaVu Sans"/>
              </a:defRPr>
            </a:pPr>
            <a:r>
              <a:t>RESUM_FLEX: core/binomial_gp.py; core/surrogates/mfgp_stage.py</a:t>
            </a:r>
          </a:p>
          <a:p>
            <a:pPr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42E43"/>
                </a:solidFill>
                <a:latin typeface="DejaVu Sans"/>
              </a:defRPr>
            </a:pPr>
            <a:r>
              <a:t>Count-GP run: 20261001T173754_521023Z</a:t>
            </a:r>
          </a:p>
          <a:p>
            <a:pPr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42E43"/>
                </a:solidFill>
                <a:latin typeface="DejaVu Sans"/>
              </a:defRPr>
            </a:pPr>
            <a:r>
              <a:t>RESuM run: 20260930T195141_282030Z</a:t>
            </a:r>
          </a:p>
          <a:p>
            <a:pPr>
              <a:lnSpc>
                <a:spcPts val="2039"/>
              </a:lnSpc>
              <a:spcAft>
                <a:spcPts val="0"/>
              </a:spcAft>
              <a:defRPr sz="1700" b="0">
                <a:solidFill>
                  <a:srgbClr val="142E43"/>
                </a:solidFill>
                <a:latin typeface="DejaVu Sans"/>
              </a:defRPr>
            </a:pPr>
            <a:r>
              <a:t>Run configurations, counts, metrics and model metadata are the data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 optical map | Binomial GP and RESuM</dc:title>
  <dc:subject>Count likelihood, population inference, uncertainty and model comparison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